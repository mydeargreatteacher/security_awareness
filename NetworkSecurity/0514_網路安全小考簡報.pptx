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7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61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94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8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17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42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52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79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72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99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99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E2006-521E-4552-B696-4238123AD110}" type="datetimeFigureOut">
              <a:rPr lang="zh-TW" altLang="en-US" smtClean="0"/>
              <a:t>2019/5/14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17E4-1DC0-4950-B246-6954133716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93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 smtClean="0"/>
              <a:t>網路安全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61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 smtClean="0"/>
              <a:t>相對而言，以下哪一種設備或服務，是在</a:t>
            </a:r>
            <a:r>
              <a:rPr lang="en-US" altLang="zh-TW" sz="3600" dirty="0" smtClean="0"/>
              <a:t>ISO/OSI</a:t>
            </a:r>
            <a:r>
              <a:rPr lang="zh-TW" altLang="en-US" sz="3600" dirty="0" smtClean="0"/>
              <a:t>模型中，最低層的東西</a:t>
            </a:r>
            <a:r>
              <a:rPr lang="en-US" altLang="zh-TW" sz="3600" dirty="0" smtClean="0"/>
              <a:t>?</a:t>
            </a:r>
          </a:p>
          <a:p>
            <a:r>
              <a:rPr lang="en-US" altLang="zh-TW" sz="3600" dirty="0" smtClean="0"/>
              <a:t>(1)DNS server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 smtClean="0"/>
              <a:t>2)Repeater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 smtClean="0"/>
              <a:t>3)Bridge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 smtClean="0"/>
              <a:t>4)Router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43021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網路拓樸（</a:t>
            </a:r>
            <a:r>
              <a:rPr lang="en-US" altLang="zh-TW" sz="3600" dirty="0"/>
              <a:t>topology</a:t>
            </a:r>
            <a:r>
              <a:rPr lang="zh-TW" altLang="en-US" sz="3600" dirty="0"/>
              <a:t>）代表的意義為：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網路的傳輸速度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網路的傳輸距離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網路的佈線</a:t>
            </a:r>
            <a:r>
              <a:rPr lang="zh-TW" altLang="en-US" sz="3600" dirty="0" smtClean="0"/>
              <a:t>架構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網路的規模大小</a:t>
            </a:r>
          </a:p>
        </p:txBody>
      </p:sp>
    </p:spTree>
    <p:extLst>
      <p:ext uri="{BB962C8B-B14F-4D97-AF65-F5344CB8AC3E}">
        <p14:creationId xmlns:p14="http://schemas.microsoft.com/office/powerpoint/2010/main" val="142483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212" y="1863465"/>
            <a:ext cx="850757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下列何者是匯流排</a:t>
            </a:r>
            <a:r>
              <a:rPr lang="en-US" altLang="zh-TW" sz="3600" dirty="0"/>
              <a:t>[BUS]</a:t>
            </a:r>
            <a:r>
              <a:rPr lang="zh-TW" altLang="en-US" sz="3600" dirty="0"/>
              <a:t>拓樸的連接方式？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網路上的所有工作站都彼此獨立</a:t>
            </a:r>
          </a:p>
          <a:p>
            <a:r>
              <a:rPr lang="en-US" altLang="zh-TW" sz="3600" dirty="0"/>
              <a:t>(2)</a:t>
            </a:r>
            <a:r>
              <a:rPr lang="zh-TW" altLang="en-US" sz="3600" dirty="0"/>
              <a:t>網路上的所有 工作站都是一部接一部的連接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網路上的所有工作站都與一個中央控制器連接</a:t>
            </a:r>
          </a:p>
          <a:p>
            <a:r>
              <a:rPr lang="en-US" altLang="zh-TW" sz="3600" dirty="0"/>
              <a:t>(4)</a:t>
            </a:r>
            <a:r>
              <a:rPr lang="zh-TW" altLang="en-US" sz="3600" dirty="0"/>
              <a:t>網路 上的所有工作站都直接與一個共同的通道連接</a:t>
            </a:r>
          </a:p>
        </p:txBody>
      </p:sp>
    </p:spTree>
    <p:extLst>
      <p:ext uri="{BB962C8B-B14F-4D97-AF65-F5344CB8AC3E}">
        <p14:creationId xmlns:p14="http://schemas.microsoft.com/office/powerpoint/2010/main" val="273447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以中央控制節點與其他節點連接，而其他節點互不直接相連。請問這是下列那種網路拓樸架構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</a:t>
            </a:r>
            <a:r>
              <a:rPr lang="zh-TW" altLang="en-US" sz="3600" dirty="0"/>
              <a:t>點對點網路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星狀網路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網狀網路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匯流排網路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1780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下列何種網路的拓撲型態，當有一部電腦故障時，網路的資料通訊最不會受到影響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</a:t>
            </a:r>
            <a:r>
              <a:rPr lang="zh-TW" altLang="en-US" sz="3600" dirty="0"/>
              <a:t>星狀式</a:t>
            </a:r>
            <a:r>
              <a:rPr lang="en-US" altLang="zh-TW" sz="3600" dirty="0"/>
              <a:t>(Star</a:t>
            </a:r>
            <a:r>
              <a:rPr lang="en-US" altLang="zh-TW" sz="3600" dirty="0" smtClean="0"/>
              <a:t>)</a:t>
            </a:r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環狀式</a:t>
            </a:r>
            <a:r>
              <a:rPr lang="en-US" altLang="zh-TW" sz="3600" dirty="0"/>
              <a:t>(Ring)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網狀式</a:t>
            </a:r>
            <a:r>
              <a:rPr lang="en-US" altLang="zh-TW" sz="3600" dirty="0"/>
              <a:t>(Mesh)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匯流排式</a:t>
            </a:r>
            <a:r>
              <a:rPr lang="en-US" altLang="zh-TW" sz="3600" dirty="0"/>
              <a:t>(Bus)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24118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806" y="1372811"/>
            <a:ext cx="90543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/>
              <a:t>同儕架構（</a:t>
            </a:r>
            <a:r>
              <a:rPr lang="en-US" altLang="zh-TW" sz="3200" dirty="0"/>
              <a:t>peer-to-peer paradigm</a:t>
            </a:r>
            <a:r>
              <a:rPr lang="zh-TW" altLang="en-US" sz="3200" dirty="0"/>
              <a:t>）常常被用於檔案分享，下列敘述何者錯誤？</a:t>
            </a:r>
          </a:p>
          <a:p>
            <a:r>
              <a:rPr lang="en-US" altLang="zh-TW" sz="3200" dirty="0"/>
              <a:t>(1)</a:t>
            </a:r>
            <a:r>
              <a:rPr lang="zh-TW" altLang="en-US" sz="3200" dirty="0"/>
              <a:t>在此架構中，伺服器行程不需要永遠執行與持續等待客戶行程的連線要求，此職責被分擔給所有同儕電腦</a:t>
            </a:r>
          </a:p>
          <a:p>
            <a:r>
              <a:rPr lang="en-US" altLang="zh-TW" sz="3200" dirty="0"/>
              <a:t>(2)</a:t>
            </a:r>
            <a:r>
              <a:rPr lang="zh-TW" altLang="en-US" sz="3200" dirty="0"/>
              <a:t>無須架設昂貴的伺服器是此架構的優點</a:t>
            </a:r>
          </a:p>
          <a:p>
            <a:r>
              <a:rPr lang="en-US" altLang="zh-TW" sz="3200" dirty="0"/>
              <a:t>(3)</a:t>
            </a:r>
            <a:r>
              <a:rPr lang="zh-TW" altLang="en-US" sz="3200" dirty="0"/>
              <a:t>同儕架構中，電腦可以為提供服務者，亦可為被服務者，但不可以同時為服務者與被服務者</a:t>
            </a:r>
          </a:p>
          <a:p>
            <a:r>
              <a:rPr lang="en-US" altLang="zh-TW" sz="3200" dirty="0"/>
              <a:t>(4)</a:t>
            </a:r>
            <a:r>
              <a:rPr lang="zh-TW" altLang="en-US" sz="3200" dirty="0"/>
              <a:t>音樂檔案分享服務 </a:t>
            </a:r>
            <a:r>
              <a:rPr lang="en-US" altLang="zh-TW" sz="3200" dirty="0"/>
              <a:t>Napster</a:t>
            </a:r>
            <a:r>
              <a:rPr lang="zh-TW" altLang="en-US" sz="3200" dirty="0"/>
              <a:t>，即屬於同儕架構</a:t>
            </a:r>
          </a:p>
        </p:txBody>
      </p:sp>
    </p:spTree>
    <p:extLst>
      <p:ext uri="{BB962C8B-B14F-4D97-AF65-F5344CB8AC3E}">
        <p14:creationId xmlns:p14="http://schemas.microsoft.com/office/powerpoint/2010/main" val="12652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下列有關點對點（</a:t>
            </a:r>
            <a:r>
              <a:rPr lang="en-US" altLang="zh-TW" sz="3600" dirty="0"/>
              <a:t>Peer-to-Peer</a:t>
            </a:r>
            <a:r>
              <a:rPr lang="zh-TW" altLang="en-US" sz="3600" dirty="0"/>
              <a:t>）的傳輸模式何者正確？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使用者只能扮演 </a:t>
            </a:r>
            <a:r>
              <a:rPr lang="en-US" altLang="zh-TW" sz="3600" dirty="0"/>
              <a:t>Client </a:t>
            </a:r>
            <a:r>
              <a:rPr lang="zh-TW" altLang="en-US" sz="3600" dirty="0"/>
              <a:t>端的角色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需透過伺服器分享資訊或共用內容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資源可集中處理，管理方便且較有一致性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 Client </a:t>
            </a:r>
            <a:r>
              <a:rPr lang="zh-TW" altLang="en-US" sz="3600" dirty="0"/>
              <a:t>端互相連接直接分享資訊或共用內容</a:t>
            </a:r>
          </a:p>
        </p:txBody>
      </p:sp>
    </p:spTree>
    <p:extLst>
      <p:ext uri="{BB962C8B-B14F-4D97-AF65-F5344CB8AC3E}">
        <p14:creationId xmlns:p14="http://schemas.microsoft.com/office/powerpoint/2010/main" val="1473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The ___ model allows every computer on the network to be both client and server</a:t>
            </a:r>
          </a:p>
          <a:p>
            <a:r>
              <a:rPr lang="en-US" altLang="zh-TW" sz="3600" dirty="0"/>
              <a:t>(1)client/client   (2)server/server  (3)client/server    (4)peer-to-peer 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73180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1417" y="1863465"/>
            <a:ext cx="79611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一個半雙工（</a:t>
            </a:r>
            <a:r>
              <a:rPr lang="en-US" altLang="zh-TW" sz="3600" dirty="0"/>
              <a:t>half-duplex</a:t>
            </a:r>
            <a:r>
              <a:rPr lang="zh-TW" altLang="en-US" sz="3600" dirty="0"/>
              <a:t>）傳輸系統是：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單向傳輸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單向傳輸，且可以同時進行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雙向傳輸，且可以同時進行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雙向傳輸，但不可同時進行</a:t>
            </a:r>
          </a:p>
        </p:txBody>
      </p:sp>
    </p:spTree>
    <p:extLst>
      <p:ext uri="{BB962C8B-B14F-4D97-AF65-F5344CB8AC3E}">
        <p14:creationId xmlns:p14="http://schemas.microsoft.com/office/powerpoint/2010/main" val="139902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5119" y="1863465"/>
            <a:ext cx="83737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An example of simplex transmission is a(n): </a:t>
            </a:r>
          </a:p>
          <a:p>
            <a:r>
              <a:rPr lang="en-US" altLang="zh-TW" sz="3600" dirty="0"/>
              <a:t>(1)doorbell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2)press-to-talk phone radio in a police car</a:t>
            </a:r>
          </a:p>
          <a:p>
            <a:r>
              <a:rPr lang="en-US" altLang="zh-TW" sz="3600" dirty="0"/>
              <a:t>(3)busy two-way street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4)computer-to-computer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9871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914" y="1863465"/>
            <a:ext cx="89201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An example of half-duplex transmission is a(n): </a:t>
            </a:r>
          </a:p>
          <a:p>
            <a:r>
              <a:rPr lang="en-US" altLang="zh-TW" sz="3600" dirty="0"/>
              <a:t>(1)doorbell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2)press-to-talk phone radio in a police car</a:t>
            </a:r>
          </a:p>
          <a:p>
            <a:r>
              <a:rPr lang="en-US" altLang="zh-TW" sz="3600" dirty="0"/>
              <a:t>(3)busy two-way street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4)computer-to-computer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9953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下列何者不屬於網際網路（</a:t>
            </a:r>
            <a:r>
              <a:rPr lang="en-US" altLang="zh-TW" sz="3600" dirty="0"/>
              <a:t>Internet</a:t>
            </a:r>
            <a:r>
              <a:rPr lang="zh-TW" altLang="en-US" sz="3600" dirty="0"/>
              <a:t>）所提供的服務？</a:t>
            </a:r>
          </a:p>
          <a:p>
            <a:r>
              <a:rPr lang="en-US" altLang="zh-TW" sz="3600" dirty="0"/>
              <a:t>(1)POS (2)FTP, Telnet (3)WWW, Telnet (4)Netnews, IRC</a:t>
            </a:r>
          </a:p>
        </p:txBody>
      </p:sp>
    </p:spTree>
    <p:extLst>
      <p:ext uri="{BB962C8B-B14F-4D97-AF65-F5344CB8AC3E}">
        <p14:creationId xmlns:p14="http://schemas.microsoft.com/office/powerpoint/2010/main" val="2176544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目前在世界上主要使用的網路通訊協定為何？</a:t>
            </a:r>
          </a:p>
          <a:p>
            <a:r>
              <a:rPr lang="en-US" altLang="zh-TW" sz="3600" dirty="0"/>
              <a:t>(1)TCP/IP (2)HTTP (3)UDP (4)P2P</a:t>
            </a:r>
          </a:p>
        </p:txBody>
      </p:sp>
    </p:spTree>
    <p:extLst>
      <p:ext uri="{BB962C8B-B14F-4D97-AF65-F5344CB8AC3E}">
        <p14:creationId xmlns:p14="http://schemas.microsoft.com/office/powerpoint/2010/main" val="143323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有關 </a:t>
            </a:r>
            <a:r>
              <a:rPr lang="en-US" altLang="zh-TW" sz="3600" dirty="0"/>
              <a:t>TCP/IP </a:t>
            </a:r>
            <a:r>
              <a:rPr lang="zh-TW" altLang="en-US" sz="3600" dirty="0"/>
              <a:t>網際網路協定中，從底部開始的順序，下列何者正確？①應用層 ②資料連結層 ③實體層④網路層 ⑤傳輸層</a:t>
            </a:r>
          </a:p>
          <a:p>
            <a:r>
              <a:rPr lang="en-US" altLang="zh-TW" sz="3600" dirty="0"/>
              <a:t>(1)①②④⑤③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2)③①⑤④②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3)③②④⑤①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4)④③②①⑤</a:t>
            </a:r>
          </a:p>
        </p:txBody>
      </p:sp>
    </p:spTree>
    <p:extLst>
      <p:ext uri="{BB962C8B-B14F-4D97-AF65-F5344CB8AC3E}">
        <p14:creationId xmlns:p14="http://schemas.microsoft.com/office/powerpoint/2010/main" val="15246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下列通訊協定（</a:t>
            </a:r>
            <a:r>
              <a:rPr lang="en-US" altLang="zh-TW" sz="3600" dirty="0"/>
              <a:t>Protocol</a:t>
            </a:r>
            <a:r>
              <a:rPr lang="zh-TW" altLang="en-US" sz="3600" dirty="0"/>
              <a:t>）何者不屬於應用層（</a:t>
            </a:r>
            <a:r>
              <a:rPr lang="en-US" altLang="zh-TW" sz="3600" dirty="0"/>
              <a:t>Application Layer</a:t>
            </a:r>
            <a:r>
              <a:rPr lang="zh-TW" altLang="en-US" sz="3600" dirty="0"/>
              <a:t>）？</a:t>
            </a:r>
          </a:p>
          <a:p>
            <a:r>
              <a:rPr lang="en-US" altLang="zh-TW" sz="3600" dirty="0"/>
              <a:t>(1) TCP (2)DNS (3)DHCP (4)SMTP</a:t>
            </a:r>
          </a:p>
        </p:txBody>
      </p:sp>
    </p:spTree>
    <p:extLst>
      <p:ext uri="{BB962C8B-B14F-4D97-AF65-F5344CB8AC3E}">
        <p14:creationId xmlns:p14="http://schemas.microsoft.com/office/powerpoint/2010/main" val="184834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OSI </a:t>
            </a:r>
            <a:r>
              <a:rPr lang="zh-TW" altLang="en-US" sz="3600" dirty="0"/>
              <a:t>網路七層架構中，那一層負責規劃或選擇資料傳送的最佳路徑？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資料鏈結層（</a:t>
            </a:r>
            <a:r>
              <a:rPr lang="en-US" altLang="zh-TW" sz="3600" dirty="0"/>
              <a:t>data link layer</a:t>
            </a:r>
            <a:r>
              <a:rPr lang="zh-TW" altLang="en-US" sz="3600" dirty="0" smtClean="0"/>
              <a:t>）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網路層（</a:t>
            </a:r>
            <a:r>
              <a:rPr lang="en-US" altLang="zh-TW" sz="3600" dirty="0"/>
              <a:t>network layer</a:t>
            </a:r>
            <a:r>
              <a:rPr lang="zh-TW" altLang="en-US" sz="3600" dirty="0"/>
              <a:t>）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傳輸層（</a:t>
            </a:r>
            <a:r>
              <a:rPr lang="en-US" altLang="zh-TW" sz="3600" dirty="0"/>
              <a:t>transport layer</a:t>
            </a:r>
            <a:r>
              <a:rPr lang="zh-TW" altLang="en-US" sz="3600" dirty="0"/>
              <a:t>）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會議層（</a:t>
            </a:r>
            <a:r>
              <a:rPr lang="en-US" altLang="zh-TW" sz="3600" dirty="0"/>
              <a:t>session layer</a:t>
            </a:r>
            <a:r>
              <a:rPr lang="zh-TW" altLang="en-US" sz="3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6004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OSI </a:t>
            </a:r>
            <a:r>
              <a:rPr lang="zh-TW" altLang="en-US" sz="3600" dirty="0"/>
              <a:t>七層協定中定義終端設備與網路間使用的介面，屬於哪一層？</a:t>
            </a:r>
          </a:p>
          <a:p>
            <a:r>
              <a:rPr lang="en-US" altLang="zh-TW" sz="3600" dirty="0" smtClean="0"/>
              <a:t>(1)	</a:t>
            </a:r>
            <a:r>
              <a:rPr lang="zh-TW" altLang="en-US" sz="3600" dirty="0" smtClean="0"/>
              <a:t>網</a:t>
            </a:r>
            <a:r>
              <a:rPr lang="zh-TW" altLang="en-US" sz="3600" dirty="0"/>
              <a:t>路層</a:t>
            </a:r>
            <a:r>
              <a:rPr lang="en-US" altLang="zh-TW" sz="3600" dirty="0"/>
              <a:t>(</a:t>
            </a:r>
            <a:r>
              <a:rPr lang="en-US" altLang="zh-TW" sz="3600" dirty="0" err="1"/>
              <a:t>networklayer</a:t>
            </a:r>
            <a:r>
              <a:rPr lang="en-US" altLang="zh-TW" sz="3600" dirty="0" smtClean="0"/>
              <a:t>)</a:t>
            </a:r>
            <a:r>
              <a:rPr lang="zh-TW" altLang="en-US" sz="3600" dirty="0" smtClean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</a:t>
            </a:r>
            <a:r>
              <a:rPr lang="en-US" altLang="zh-TW" sz="3600" dirty="0" smtClean="0"/>
              <a:t>)	</a:t>
            </a:r>
            <a:r>
              <a:rPr lang="zh-TW" altLang="en-US" sz="3600" dirty="0" smtClean="0"/>
              <a:t>實體</a:t>
            </a:r>
            <a:r>
              <a:rPr lang="zh-TW" altLang="en-US" sz="3600" dirty="0"/>
              <a:t>層</a:t>
            </a:r>
            <a:r>
              <a:rPr lang="en-US" altLang="zh-TW" sz="3600" dirty="0"/>
              <a:t>(physical layer)</a:t>
            </a:r>
          </a:p>
          <a:p>
            <a:pPr marL="742950" indent="-742950">
              <a:buAutoNum type="arabicParenBoth" startAt="3"/>
            </a:pPr>
            <a:r>
              <a:rPr lang="zh-TW" altLang="en-US" sz="3600" dirty="0" smtClean="0"/>
              <a:t>應用</a:t>
            </a:r>
            <a:r>
              <a:rPr lang="zh-TW" altLang="en-US" sz="3600" dirty="0"/>
              <a:t>層</a:t>
            </a:r>
            <a:r>
              <a:rPr lang="en-US" altLang="zh-TW" sz="3600" dirty="0"/>
              <a:t>(application layer)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pPr marL="742950" indent="-742950">
              <a:buAutoNum type="arabicParenBoth" startAt="3"/>
            </a:pPr>
            <a:r>
              <a:rPr lang="zh-TW" altLang="en-US" sz="3600" dirty="0" smtClean="0"/>
              <a:t>傳輸</a:t>
            </a:r>
            <a:r>
              <a:rPr lang="zh-TW" altLang="en-US" sz="3600" dirty="0"/>
              <a:t>層</a:t>
            </a:r>
            <a:r>
              <a:rPr lang="en-US" altLang="zh-TW" sz="3600" dirty="0"/>
              <a:t>(</a:t>
            </a:r>
            <a:r>
              <a:rPr lang="en-US" altLang="zh-TW" sz="3600" dirty="0" err="1"/>
              <a:t>transportlayer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138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網際網路中，所使用的 </a:t>
            </a:r>
            <a:r>
              <a:rPr lang="en-US" altLang="zh-TW" sz="3600" dirty="0"/>
              <a:t>TCP/IP </a:t>
            </a:r>
            <a:r>
              <a:rPr lang="zh-TW" altLang="en-US" sz="3600" dirty="0"/>
              <a:t>協定，其 </a:t>
            </a:r>
            <a:r>
              <a:rPr lang="en-US" altLang="zh-TW" sz="3600" dirty="0"/>
              <a:t>IP </a:t>
            </a:r>
            <a:r>
              <a:rPr lang="zh-TW" altLang="en-US" sz="3600" dirty="0"/>
              <a:t>相當於 </a:t>
            </a:r>
            <a:r>
              <a:rPr lang="en-US" altLang="zh-TW" sz="3600" dirty="0"/>
              <a:t>ISO </a:t>
            </a:r>
            <a:r>
              <a:rPr lang="zh-TW" altLang="en-US" sz="3600" dirty="0"/>
              <a:t>的 </a:t>
            </a:r>
            <a:r>
              <a:rPr lang="en-US" altLang="zh-TW" sz="3600" dirty="0"/>
              <a:t>OSI </a:t>
            </a:r>
            <a:r>
              <a:rPr lang="zh-TW" altLang="en-US" sz="3600" dirty="0"/>
              <a:t>參考模式中的哪一層協定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	</a:t>
            </a:r>
            <a:r>
              <a:rPr lang="zh-TW" altLang="en-US" sz="3600" dirty="0"/>
              <a:t>傳輸層</a:t>
            </a:r>
            <a:r>
              <a:rPr lang="en-US" altLang="zh-TW" sz="3600" dirty="0"/>
              <a:t>(</a:t>
            </a:r>
            <a:r>
              <a:rPr lang="en-US" altLang="zh-TW" sz="3600" dirty="0" err="1"/>
              <a:t>transportlayer</a:t>
            </a:r>
            <a:r>
              <a:rPr lang="en-US" altLang="zh-TW" sz="3600" dirty="0"/>
              <a:t>)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	</a:t>
            </a:r>
            <a:r>
              <a:rPr lang="zh-TW" altLang="en-US" sz="3600" dirty="0"/>
              <a:t>網路層</a:t>
            </a:r>
            <a:r>
              <a:rPr lang="en-US" altLang="zh-TW" sz="3600" dirty="0"/>
              <a:t>(network layer)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表達層</a:t>
            </a:r>
            <a:r>
              <a:rPr lang="en-US" altLang="zh-TW" sz="3600" dirty="0"/>
              <a:t>(presentation layer)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資料連 結層</a:t>
            </a:r>
            <a:r>
              <a:rPr lang="en-US" altLang="zh-TW" sz="3600" dirty="0"/>
              <a:t>(datalink layer)</a:t>
            </a:r>
          </a:p>
        </p:txBody>
      </p:sp>
    </p:spTree>
    <p:extLst>
      <p:ext uri="{BB962C8B-B14F-4D97-AF65-F5344CB8AC3E}">
        <p14:creationId xmlns:p14="http://schemas.microsoft.com/office/powerpoint/2010/main" val="3488740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TCP </a:t>
            </a:r>
            <a:r>
              <a:rPr lang="zh-TW" altLang="en-US" sz="3600" dirty="0"/>
              <a:t>協定位於 </a:t>
            </a:r>
            <a:r>
              <a:rPr lang="en-US" altLang="zh-TW" sz="3600" dirty="0"/>
              <a:t>OSI </a:t>
            </a:r>
            <a:r>
              <a:rPr lang="zh-TW" altLang="en-US" sz="3600" dirty="0"/>
              <a:t>網路七層架構中的那一層？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表達層（</a:t>
            </a:r>
            <a:r>
              <a:rPr lang="en-US" altLang="zh-TW" sz="3600" dirty="0"/>
              <a:t>presentation layer</a:t>
            </a:r>
            <a:r>
              <a:rPr lang="zh-TW" altLang="en-US" sz="3600" dirty="0"/>
              <a:t>）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應用層（</a:t>
            </a:r>
            <a:r>
              <a:rPr lang="en-US" altLang="zh-TW" sz="3600" dirty="0"/>
              <a:t>application layer</a:t>
            </a:r>
            <a:r>
              <a:rPr lang="zh-TW" altLang="en-US" sz="3600" dirty="0"/>
              <a:t>）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會議層（</a:t>
            </a:r>
            <a:r>
              <a:rPr lang="en-US" altLang="zh-TW" sz="3600" dirty="0"/>
              <a:t>session layer</a:t>
            </a:r>
            <a:r>
              <a:rPr lang="zh-TW" altLang="en-US" sz="3600" dirty="0"/>
              <a:t>）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傳輸層（</a:t>
            </a:r>
            <a:r>
              <a:rPr lang="en-US" altLang="zh-TW" sz="3600" dirty="0"/>
              <a:t>transport layer</a:t>
            </a:r>
            <a:r>
              <a:rPr lang="zh-TW" altLang="en-US" sz="3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02936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ASCII, encryption, QuickTime, and JPEG are all typical of which layer?</a:t>
            </a:r>
          </a:p>
          <a:p>
            <a:r>
              <a:rPr lang="en-US" altLang="zh-TW" sz="3600" dirty="0"/>
              <a:t>(A)the presentation layer   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B)the transport layer</a:t>
            </a:r>
          </a:p>
          <a:p>
            <a:r>
              <a:rPr lang="en-US" altLang="zh-TW" sz="3600" dirty="0"/>
              <a:t>(C)the application layer    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D)the session layer 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671448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HTTP </a:t>
            </a:r>
            <a:r>
              <a:rPr lang="zh-TW" altLang="en-US" sz="3600" dirty="0"/>
              <a:t>與 </a:t>
            </a:r>
            <a:r>
              <a:rPr lang="en-US" altLang="zh-TW" sz="3600" dirty="0"/>
              <a:t>HTTPS </a:t>
            </a:r>
            <a:r>
              <a:rPr lang="zh-TW" altLang="en-US" sz="3600" dirty="0"/>
              <a:t>通訊協定之差異為何？</a:t>
            </a:r>
          </a:p>
          <a:p>
            <a:r>
              <a:rPr lang="en-US" altLang="zh-TW" sz="3600" dirty="0"/>
              <a:t>(1)HTTPS </a:t>
            </a:r>
            <a:r>
              <a:rPr lang="zh-TW" altLang="en-US" sz="3600" dirty="0"/>
              <a:t>加強安全性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2)HTTPS </a:t>
            </a:r>
            <a:r>
              <a:rPr lang="zh-TW" altLang="en-US" sz="3600" dirty="0"/>
              <a:t>加強執行速度</a:t>
            </a:r>
          </a:p>
          <a:p>
            <a:r>
              <a:rPr lang="en-US" altLang="zh-TW" sz="3600" dirty="0"/>
              <a:t>(3)HTTPS </a:t>
            </a:r>
            <a:r>
              <a:rPr lang="zh-TW" altLang="en-US" sz="3600" dirty="0"/>
              <a:t>加強資料傳輸量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4)HTTPS </a:t>
            </a:r>
            <a:r>
              <a:rPr lang="zh-TW" altLang="en-US" sz="3600" dirty="0"/>
              <a:t>可允許更多人同時上網使用</a:t>
            </a:r>
          </a:p>
        </p:txBody>
      </p:sp>
    </p:spTree>
    <p:extLst>
      <p:ext uri="{BB962C8B-B14F-4D97-AF65-F5344CB8AC3E}">
        <p14:creationId xmlns:p14="http://schemas.microsoft.com/office/powerpoint/2010/main" val="1957725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https </a:t>
            </a:r>
            <a:r>
              <a:rPr lang="zh-TW" altLang="en-US" sz="3600" dirty="0"/>
              <a:t>結合了 </a:t>
            </a:r>
            <a:r>
              <a:rPr lang="en-US" altLang="zh-TW" sz="3600" dirty="0"/>
              <a:t>http </a:t>
            </a:r>
            <a:r>
              <a:rPr lang="zh-TW" altLang="en-US" sz="3600" dirty="0"/>
              <a:t>通訊協定與安全通道層（</a:t>
            </a:r>
            <a:r>
              <a:rPr lang="en-US" altLang="zh-TW" sz="3600" dirty="0"/>
              <a:t>Secure Sockets Layer, SSL</a:t>
            </a:r>
            <a:r>
              <a:rPr lang="zh-TW" altLang="en-US" sz="3600" dirty="0"/>
              <a:t>），</a:t>
            </a:r>
            <a:r>
              <a:rPr lang="en-US" altLang="zh-TW" sz="3600" dirty="0"/>
              <a:t>SSL </a:t>
            </a:r>
            <a:r>
              <a:rPr lang="zh-TW" altLang="en-US" sz="3600" dirty="0"/>
              <a:t>提供何種功能？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檔案傳送 </a:t>
            </a:r>
            <a:r>
              <a:rPr lang="en-US" altLang="zh-TW" sz="3600" dirty="0"/>
              <a:t>(2)</a:t>
            </a:r>
            <a:r>
              <a:rPr lang="zh-TW" altLang="en-US" sz="3600" dirty="0"/>
              <a:t>用戶認證 </a:t>
            </a:r>
            <a:r>
              <a:rPr lang="en-US" altLang="zh-TW" sz="3600" dirty="0"/>
              <a:t>(3)</a:t>
            </a:r>
            <a:r>
              <a:rPr lang="zh-TW" altLang="en-US" sz="3600" dirty="0"/>
              <a:t>程式加速 </a:t>
            </a:r>
            <a:r>
              <a:rPr lang="en-US" altLang="zh-TW" sz="3600" dirty="0"/>
              <a:t>(4)</a:t>
            </a:r>
            <a:r>
              <a:rPr lang="zh-TW" altLang="en-US" sz="3600" dirty="0"/>
              <a:t>資料加密</a:t>
            </a:r>
          </a:p>
        </p:txBody>
      </p:sp>
    </p:spTree>
    <p:extLst>
      <p:ext uri="{BB962C8B-B14F-4D97-AF65-F5344CB8AC3E}">
        <p14:creationId xmlns:p14="http://schemas.microsoft.com/office/powerpoint/2010/main" val="1617805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在網際網路上，何種伺服器專門提供 </a:t>
            </a:r>
            <a:r>
              <a:rPr lang="en-US" altLang="zh-TW" sz="3600" dirty="0"/>
              <a:t>IP </a:t>
            </a:r>
            <a:r>
              <a:rPr lang="zh-TW" altLang="en-US" sz="3600" dirty="0"/>
              <a:t>與網域名稱轉換的服務？</a:t>
            </a:r>
          </a:p>
          <a:p>
            <a:r>
              <a:rPr lang="en-US" altLang="zh-TW" sz="3600" dirty="0"/>
              <a:t>(1)WWW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2)FILE</a:t>
            </a:r>
            <a:r>
              <a:rPr lang="zh-TW" altLang="en-US" sz="3600" dirty="0"/>
              <a:t>　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3)FTP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(4)DNS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6609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IP Address </a:t>
            </a:r>
            <a:r>
              <a:rPr lang="zh-TW" altLang="en-US" sz="3600" dirty="0"/>
              <a:t>由四組數字組成，下列何者有誤？</a:t>
            </a:r>
          </a:p>
          <a:p>
            <a:r>
              <a:rPr lang="en-US" altLang="zh-TW" sz="3600" dirty="0"/>
              <a:t>(1)202.39.246.80</a:t>
            </a:r>
            <a:r>
              <a:rPr lang="zh-TW" altLang="en-US" sz="3600" dirty="0"/>
              <a:t>　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2)140.116.23.77</a:t>
            </a:r>
          </a:p>
          <a:p>
            <a:r>
              <a:rPr lang="en-US" altLang="zh-TW" sz="3600" dirty="0"/>
              <a:t>(3)303.64.52.10</a:t>
            </a:r>
            <a:r>
              <a:rPr lang="zh-TW" altLang="en-US" sz="3600" dirty="0"/>
              <a:t>　　 </a:t>
            </a:r>
            <a:r>
              <a:rPr lang="en-US" altLang="zh-TW" sz="3600" dirty="0"/>
              <a:t>(4)192.192.180.180</a:t>
            </a:r>
          </a:p>
        </p:txBody>
      </p:sp>
    </p:spTree>
    <p:extLst>
      <p:ext uri="{BB962C8B-B14F-4D97-AF65-F5344CB8AC3E}">
        <p14:creationId xmlns:p14="http://schemas.microsoft.com/office/powerpoint/2010/main" val="1463274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/>
              <a:t>IP Address </a:t>
            </a:r>
            <a:r>
              <a:rPr lang="zh-TW" altLang="en-US" sz="3600" dirty="0"/>
              <a:t>由四組數字組成，如</a:t>
            </a:r>
            <a:r>
              <a:rPr lang="en-US" altLang="zh-TW" sz="3600" dirty="0"/>
              <a:t>140.116.23.77</a:t>
            </a:r>
            <a:r>
              <a:rPr lang="zh-TW" altLang="en-US" sz="3600" dirty="0"/>
              <a:t>，請問你</a:t>
            </a:r>
            <a:r>
              <a:rPr lang="en-US" altLang="zh-TW" sz="3600" dirty="0"/>
              <a:t>IPv4</a:t>
            </a:r>
            <a:r>
              <a:rPr lang="zh-TW" altLang="en-US" sz="3600" dirty="0"/>
              <a:t>的</a:t>
            </a:r>
            <a:r>
              <a:rPr lang="en-US" altLang="zh-TW" sz="3600" dirty="0"/>
              <a:t>address</a:t>
            </a:r>
            <a:r>
              <a:rPr lang="zh-TW" altLang="en-US" sz="3600" dirty="0"/>
              <a:t>是由幾個</a:t>
            </a:r>
            <a:r>
              <a:rPr lang="en-US" altLang="zh-TW" sz="3600" dirty="0"/>
              <a:t>bytes</a:t>
            </a:r>
            <a:r>
              <a:rPr lang="zh-TW" altLang="en-US" sz="3600" dirty="0"/>
              <a:t>定義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1)4</a:t>
            </a:r>
            <a:r>
              <a:rPr lang="zh-TW" altLang="en-US" sz="3600" dirty="0"/>
              <a:t>　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2)8 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3)16</a:t>
            </a:r>
            <a:r>
              <a:rPr lang="zh-TW" altLang="en-US" sz="3600" dirty="0"/>
              <a:t>　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4)128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4201478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請問下列那一項通訊協定（</a:t>
            </a:r>
            <a:r>
              <a:rPr lang="en-US" altLang="zh-TW" sz="3600" dirty="0"/>
              <a:t>Protocol</a:t>
            </a:r>
            <a:r>
              <a:rPr lang="zh-TW" altLang="en-US" sz="3600" dirty="0"/>
              <a:t>）是用來設計提供電子郵件收信使用的？</a:t>
            </a:r>
          </a:p>
          <a:p>
            <a:r>
              <a:rPr lang="en-US" altLang="zh-TW" sz="3600" dirty="0" smtClean="0"/>
              <a:t>(1) FTP (</a:t>
            </a:r>
            <a:r>
              <a:rPr lang="en-US" altLang="zh-TW" sz="3600" dirty="0"/>
              <a:t>2)SMTP (3)POP3 (4) DHCP</a:t>
            </a:r>
          </a:p>
        </p:txBody>
      </p:sp>
    </p:spTree>
    <p:extLst>
      <p:ext uri="{BB962C8B-B14F-4D97-AF65-F5344CB8AC3E}">
        <p14:creationId xmlns:p14="http://schemas.microsoft.com/office/powerpoint/2010/main" val="1915117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網際網路通訊協定堆疊中，下列何者主要以連接埠（</a:t>
            </a:r>
            <a:r>
              <a:rPr lang="en-US" altLang="zh-TW" sz="3600" dirty="0"/>
              <a:t>Port</a:t>
            </a:r>
            <a:r>
              <a:rPr lang="zh-TW" altLang="en-US" sz="3600" dirty="0"/>
              <a:t>）來支援應用程式的多工與解多工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</a:t>
            </a:r>
            <a:r>
              <a:rPr lang="zh-TW" altLang="en-US" sz="3600" dirty="0"/>
              <a:t>應用層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傳輸層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網路層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連結層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890851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8725" y="1863465"/>
            <a:ext cx="892655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/>
              <a:t>傳輸層（</a:t>
            </a:r>
            <a:r>
              <a:rPr lang="en-US" altLang="zh-TW" sz="3200" dirty="0"/>
              <a:t>transport layer</a:t>
            </a:r>
            <a:r>
              <a:rPr lang="zh-TW" altLang="en-US" sz="3200" dirty="0"/>
              <a:t>）在 </a:t>
            </a:r>
            <a:r>
              <a:rPr lang="en-US" altLang="zh-TW" sz="3200" dirty="0"/>
              <a:t>ISO </a:t>
            </a:r>
            <a:r>
              <a:rPr lang="zh-TW" altLang="en-US" sz="3200" dirty="0"/>
              <a:t>提出的 </a:t>
            </a:r>
            <a:r>
              <a:rPr lang="en-US" altLang="zh-TW" sz="3200" dirty="0"/>
              <a:t>OSI</a:t>
            </a:r>
            <a:r>
              <a:rPr lang="zh-TW" altLang="en-US" sz="3200" dirty="0"/>
              <a:t>（</a:t>
            </a:r>
            <a:r>
              <a:rPr lang="en-US" altLang="zh-TW" sz="3200" dirty="0"/>
              <a:t>Open System Interconnection</a:t>
            </a:r>
            <a:r>
              <a:rPr lang="zh-TW" altLang="en-US" sz="3200" dirty="0"/>
              <a:t>）七層模型中屬於第四層，下列何者不是傳輸層的主要功能？</a:t>
            </a:r>
          </a:p>
          <a:p>
            <a:r>
              <a:rPr lang="en-US" altLang="zh-TW" sz="3200" dirty="0"/>
              <a:t>(1)</a:t>
            </a:r>
            <a:r>
              <a:rPr lang="zh-TW" altLang="en-US" sz="3200" dirty="0"/>
              <a:t>路由（</a:t>
            </a:r>
            <a:r>
              <a:rPr lang="en-US" altLang="zh-TW" sz="3200" dirty="0"/>
              <a:t>routing</a:t>
            </a:r>
            <a:r>
              <a:rPr lang="zh-TW" altLang="en-US" sz="3200" dirty="0"/>
              <a:t>），尋找到達目的地的路徑</a:t>
            </a:r>
          </a:p>
          <a:p>
            <a:r>
              <a:rPr lang="en-US" altLang="zh-TW" sz="3200" dirty="0"/>
              <a:t>(2)</a:t>
            </a:r>
            <a:r>
              <a:rPr lang="zh-TW" altLang="en-US" sz="3200" dirty="0"/>
              <a:t>編定序號（</a:t>
            </a:r>
            <a:r>
              <a:rPr lang="en-US" altLang="zh-TW" sz="3200" dirty="0"/>
              <a:t>sequence number</a:t>
            </a:r>
            <a:r>
              <a:rPr lang="zh-TW" altLang="en-US" sz="3200" dirty="0"/>
              <a:t>），替每一個傳輸單位編號</a:t>
            </a:r>
          </a:p>
          <a:p>
            <a:r>
              <a:rPr lang="en-US" altLang="zh-TW" sz="3200" dirty="0"/>
              <a:t>(3)</a:t>
            </a:r>
            <a:r>
              <a:rPr lang="zh-TW" altLang="en-US" sz="3200" dirty="0"/>
              <a:t>流量控制（</a:t>
            </a:r>
            <a:r>
              <a:rPr lang="en-US" altLang="zh-TW" sz="3200" dirty="0"/>
              <a:t>flow control</a:t>
            </a:r>
            <a:r>
              <a:rPr lang="zh-TW" altLang="en-US" sz="3200" dirty="0"/>
              <a:t>）</a:t>
            </a:r>
          </a:p>
          <a:p>
            <a:r>
              <a:rPr lang="en-US" altLang="zh-TW" sz="3200" dirty="0"/>
              <a:t>(4)</a:t>
            </a:r>
            <a:r>
              <a:rPr lang="zh-TW" altLang="en-US" sz="3200" dirty="0"/>
              <a:t>可靠性與效率性（</a:t>
            </a:r>
            <a:r>
              <a:rPr lang="en-US" altLang="zh-TW" sz="3200" dirty="0"/>
              <a:t>reliability and efficiency</a:t>
            </a:r>
            <a:r>
              <a:rPr lang="zh-TW" altLang="en-US" sz="32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21572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361" y="1504469"/>
            <a:ext cx="894327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/>
              <a:t>當瀏覽器上的網址列由「</a:t>
            </a:r>
            <a:r>
              <a:rPr lang="en-US" altLang="zh-TW" sz="3200" dirty="0"/>
              <a:t>http://www.ptph.doh.gov.tw/</a:t>
            </a:r>
            <a:r>
              <a:rPr lang="zh-TW" altLang="en-US" sz="3200" dirty="0"/>
              <a:t>」改成「</a:t>
            </a:r>
            <a:r>
              <a:rPr lang="en-US" altLang="zh-TW" sz="3200" dirty="0"/>
              <a:t>https://www.ptph.gov.tw/</a:t>
            </a:r>
            <a:r>
              <a:rPr lang="zh-TW" altLang="en-US" sz="3200" dirty="0"/>
              <a:t>」時，表示該機器擬與網站主機建立安全連線，請問此時將使用的協定為下列何者？</a:t>
            </a:r>
          </a:p>
          <a:p>
            <a:r>
              <a:rPr lang="en-US" altLang="zh-TW" sz="3200" dirty="0"/>
              <a:t>(1)SSL/TLS</a:t>
            </a:r>
            <a:r>
              <a:rPr lang="zh-TW" altLang="en-US" sz="3200" dirty="0"/>
              <a:t>（</a:t>
            </a:r>
            <a:r>
              <a:rPr lang="en-US" altLang="zh-TW" sz="3200" dirty="0"/>
              <a:t>Secure Sockets Layer/Transport Layer Security</a:t>
            </a:r>
            <a:r>
              <a:rPr lang="zh-TW" altLang="en-US" sz="3200" dirty="0"/>
              <a:t>）</a:t>
            </a:r>
          </a:p>
          <a:p>
            <a:r>
              <a:rPr lang="en-US" altLang="zh-TW" sz="3200" dirty="0"/>
              <a:t>(2)SET</a:t>
            </a:r>
            <a:r>
              <a:rPr lang="zh-TW" altLang="en-US" sz="3200" dirty="0"/>
              <a:t>（</a:t>
            </a:r>
            <a:r>
              <a:rPr lang="en-US" altLang="zh-TW" sz="3200" dirty="0"/>
              <a:t>Secure Electronic Transaction</a:t>
            </a:r>
            <a:r>
              <a:rPr lang="zh-TW" altLang="en-US" sz="3200" dirty="0"/>
              <a:t>）</a:t>
            </a:r>
          </a:p>
          <a:p>
            <a:r>
              <a:rPr lang="en-US" altLang="zh-TW" sz="3200" dirty="0"/>
              <a:t>(3)FTP</a:t>
            </a:r>
            <a:r>
              <a:rPr lang="zh-TW" altLang="en-US" sz="3200" dirty="0"/>
              <a:t>（</a:t>
            </a:r>
            <a:r>
              <a:rPr lang="en-US" altLang="zh-TW" sz="3200" dirty="0"/>
              <a:t>File Transfer Protocol</a:t>
            </a:r>
            <a:r>
              <a:rPr lang="zh-TW" altLang="en-US" sz="3200" dirty="0"/>
              <a:t>）</a:t>
            </a:r>
          </a:p>
          <a:p>
            <a:r>
              <a:rPr lang="en-US" altLang="zh-TW" sz="3200" dirty="0"/>
              <a:t>(4)SMTP</a:t>
            </a:r>
            <a:r>
              <a:rPr lang="zh-TW" altLang="en-US" sz="3200" dirty="0"/>
              <a:t>（</a:t>
            </a:r>
            <a:r>
              <a:rPr lang="en-US" altLang="zh-TW" sz="3200" dirty="0"/>
              <a:t>Simple Mail Transfer Protocol</a:t>
            </a:r>
            <a:r>
              <a:rPr lang="zh-TW" altLang="en-US" sz="32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23690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電子郵件位址是由那兩個部分所組成？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使用者名稱和網域名稱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通訊錄和使用者名稱</a:t>
            </a:r>
          </a:p>
          <a:p>
            <a:r>
              <a:rPr lang="en-US" altLang="zh-TW" sz="3600" dirty="0"/>
              <a:t>(3)@</a:t>
            </a:r>
            <a:r>
              <a:rPr lang="zh-TW" altLang="en-US" sz="3600" dirty="0"/>
              <a:t>符號和 </a:t>
            </a:r>
            <a:r>
              <a:rPr lang="en-US" altLang="zh-TW" sz="3600" dirty="0"/>
              <a:t>.com </a:t>
            </a:r>
            <a:r>
              <a:rPr lang="zh-TW" altLang="en-US" sz="3600" dirty="0"/>
              <a:t>名稱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網域名稱和 </a:t>
            </a:r>
            <a:r>
              <a:rPr lang="en-US" altLang="zh-TW" sz="3600" dirty="0"/>
              <a:t>POP3</a:t>
            </a:r>
          </a:p>
        </p:txBody>
      </p:sp>
    </p:spTree>
    <p:extLst>
      <p:ext uri="{BB962C8B-B14F-4D97-AF65-F5344CB8AC3E}">
        <p14:creationId xmlns:p14="http://schemas.microsoft.com/office/powerpoint/2010/main" val="411388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有關 </a:t>
            </a:r>
            <a:r>
              <a:rPr lang="en-US" altLang="zh-TW" sz="3600" dirty="0"/>
              <a:t>TCP/IP </a:t>
            </a:r>
            <a:r>
              <a:rPr lang="zh-TW" altLang="en-US" sz="3600" dirty="0"/>
              <a:t>通訊協定的敘述，下列何者錯誤？</a:t>
            </a:r>
          </a:p>
          <a:p>
            <a:r>
              <a:rPr lang="en-US" altLang="zh-TW" sz="3600" dirty="0"/>
              <a:t>(1)TCP </a:t>
            </a:r>
            <a:r>
              <a:rPr lang="zh-TW" altLang="en-US" sz="3600" dirty="0"/>
              <a:t>連線都是連結導向（</a:t>
            </a:r>
            <a:r>
              <a:rPr lang="en-US" altLang="zh-TW" sz="3600" dirty="0"/>
              <a:t>connection oriented</a:t>
            </a:r>
            <a:r>
              <a:rPr lang="zh-TW" altLang="en-US" sz="3600" dirty="0"/>
              <a:t>）通訊</a:t>
            </a:r>
          </a:p>
          <a:p>
            <a:r>
              <a:rPr lang="en-US" altLang="zh-TW" sz="3600" dirty="0"/>
              <a:t>(2)UDP </a:t>
            </a:r>
            <a:r>
              <a:rPr lang="zh-TW" altLang="en-US" sz="3600" dirty="0"/>
              <a:t>連線都是無連結導向（</a:t>
            </a:r>
            <a:r>
              <a:rPr lang="en-US" altLang="zh-TW" sz="3600" dirty="0"/>
              <a:t>connectionless oriented</a:t>
            </a:r>
            <a:r>
              <a:rPr lang="zh-TW" altLang="en-US" sz="3600" dirty="0"/>
              <a:t>）通訊</a:t>
            </a:r>
          </a:p>
          <a:p>
            <a:r>
              <a:rPr lang="en-US" altLang="zh-TW" sz="3600" dirty="0"/>
              <a:t>(3)UDP </a:t>
            </a:r>
            <a:r>
              <a:rPr lang="zh-TW" altLang="en-US" sz="3600" dirty="0"/>
              <a:t>連線的 </a:t>
            </a:r>
            <a:r>
              <a:rPr lang="en-US" altLang="zh-TW" sz="3600" dirty="0"/>
              <a:t>overhead </a:t>
            </a:r>
            <a:r>
              <a:rPr lang="zh-TW" altLang="en-US" sz="3600" dirty="0"/>
              <a:t>比 </a:t>
            </a:r>
            <a:r>
              <a:rPr lang="en-US" altLang="zh-TW" sz="3600" dirty="0"/>
              <a:t>TCP </a:t>
            </a:r>
            <a:r>
              <a:rPr lang="zh-TW" altLang="en-US" sz="3600" dirty="0"/>
              <a:t>小</a:t>
            </a:r>
          </a:p>
          <a:p>
            <a:r>
              <a:rPr lang="en-US" altLang="zh-TW" sz="3600" dirty="0"/>
              <a:t>(4)DNS </a:t>
            </a:r>
            <a:r>
              <a:rPr lang="zh-TW" altLang="en-US" sz="3600" dirty="0"/>
              <a:t>是採用連結導向通訊</a:t>
            </a:r>
          </a:p>
        </p:txBody>
      </p:sp>
    </p:spTree>
    <p:extLst>
      <p:ext uri="{BB962C8B-B14F-4D97-AF65-F5344CB8AC3E}">
        <p14:creationId xmlns:p14="http://schemas.microsoft.com/office/powerpoint/2010/main" val="3145591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5472" y="1863465"/>
            <a:ext cx="81330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有關網際網路通訊協定的敘述，下列何者錯誤？</a:t>
            </a:r>
          </a:p>
          <a:p>
            <a:r>
              <a:rPr lang="en-US" altLang="zh-TW" sz="3600" dirty="0"/>
              <a:t>(1)ARP </a:t>
            </a:r>
            <a:r>
              <a:rPr lang="zh-TW" altLang="en-US" sz="3600" dirty="0"/>
              <a:t>是 </a:t>
            </a:r>
            <a:r>
              <a:rPr lang="en-US" altLang="zh-TW" sz="3600" dirty="0"/>
              <a:t>MAC/IP </a:t>
            </a:r>
            <a:r>
              <a:rPr lang="zh-TW" altLang="en-US" sz="3600" dirty="0"/>
              <a:t>住址對應（</a:t>
            </a:r>
            <a:r>
              <a:rPr lang="en-US" altLang="zh-TW" sz="3600" dirty="0"/>
              <a:t>address mapping</a:t>
            </a:r>
            <a:r>
              <a:rPr lang="zh-TW" altLang="en-US" sz="3600" dirty="0"/>
              <a:t>）的通訊協定</a:t>
            </a:r>
          </a:p>
          <a:p>
            <a:r>
              <a:rPr lang="en-US" altLang="zh-TW" sz="3600" dirty="0"/>
              <a:t>(2)DNS </a:t>
            </a:r>
            <a:r>
              <a:rPr lang="zh-TW" altLang="en-US" sz="3600" dirty="0"/>
              <a:t>是 </a:t>
            </a:r>
            <a:r>
              <a:rPr lang="en-US" altLang="zh-TW" sz="3600" dirty="0"/>
              <a:t>IP </a:t>
            </a:r>
            <a:r>
              <a:rPr lang="zh-TW" altLang="en-US" sz="3600" dirty="0"/>
              <a:t>與網域名稱對應的通訊協定</a:t>
            </a:r>
          </a:p>
          <a:p>
            <a:r>
              <a:rPr lang="en-US" altLang="zh-TW" sz="3600" dirty="0"/>
              <a:t>(3)DNS </a:t>
            </a:r>
            <a:r>
              <a:rPr lang="zh-TW" altLang="en-US" sz="3600" dirty="0"/>
              <a:t>是透過 </a:t>
            </a:r>
            <a:r>
              <a:rPr lang="en-US" altLang="zh-TW" sz="3600" dirty="0"/>
              <a:t>UDP </a:t>
            </a:r>
            <a:r>
              <a:rPr lang="zh-TW" altLang="en-US" sz="3600" dirty="0"/>
              <a:t>通訊協定傳送封包</a:t>
            </a:r>
          </a:p>
          <a:p>
            <a:r>
              <a:rPr lang="en-US" altLang="zh-TW" sz="3600" dirty="0"/>
              <a:t>(4)ARP </a:t>
            </a:r>
            <a:r>
              <a:rPr lang="zh-TW" altLang="en-US" sz="3600" dirty="0"/>
              <a:t>是透過 </a:t>
            </a:r>
            <a:r>
              <a:rPr lang="en-US" altLang="zh-TW" sz="3600" dirty="0"/>
              <a:t>UDP </a:t>
            </a:r>
            <a:r>
              <a:rPr lang="zh-TW" altLang="en-US" sz="3600" dirty="0"/>
              <a:t>通訊協定傳送封包</a:t>
            </a:r>
          </a:p>
        </p:txBody>
      </p:sp>
    </p:spTree>
    <p:extLst>
      <p:ext uri="{BB962C8B-B14F-4D97-AF65-F5344CB8AC3E}">
        <p14:creationId xmlns:p14="http://schemas.microsoft.com/office/powerpoint/2010/main" val="483077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網際網路電話傳輸常用 </a:t>
            </a:r>
            <a:r>
              <a:rPr lang="en-US" altLang="zh-TW" sz="3600" dirty="0"/>
              <a:t>UDP </a:t>
            </a:r>
            <a:r>
              <a:rPr lang="zh-TW" altLang="en-US" sz="3600" dirty="0"/>
              <a:t>協定的主因為：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可確保資料封包一定會到達目的地 </a:t>
            </a:r>
            <a:r>
              <a:rPr lang="en-US" altLang="zh-TW" sz="3600" dirty="0"/>
              <a:t>(2)</a:t>
            </a:r>
            <a:r>
              <a:rPr lang="zh-TW" altLang="en-US" sz="3600" dirty="0"/>
              <a:t>可確保資料的正確性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可確保資料封包的傳輸延遲 </a:t>
            </a:r>
            <a:r>
              <a:rPr lang="en-US" altLang="zh-TW" sz="3600" dirty="0"/>
              <a:t>(4)</a:t>
            </a:r>
            <a:r>
              <a:rPr lang="zh-TW" altLang="en-US" sz="3600" dirty="0"/>
              <a:t>少部分資料封包的遺失通常不會造成理解上的影響</a:t>
            </a:r>
          </a:p>
        </p:txBody>
      </p:sp>
    </p:spTree>
    <p:extLst>
      <p:ext uri="{BB962C8B-B14F-4D97-AF65-F5344CB8AC3E}">
        <p14:creationId xmlns:p14="http://schemas.microsoft.com/office/powerpoint/2010/main" val="3430506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在 </a:t>
            </a:r>
            <a:r>
              <a:rPr lang="en-US" altLang="zh-TW" sz="3600" dirty="0"/>
              <a:t>Internet </a:t>
            </a:r>
            <a:r>
              <a:rPr lang="zh-TW" altLang="en-US" sz="3600" dirty="0"/>
              <a:t>架構下，下列何者屬於傳輸層（</a:t>
            </a:r>
            <a:r>
              <a:rPr lang="en-US" altLang="zh-TW" sz="3600" dirty="0"/>
              <a:t>transport layer</a:t>
            </a:r>
            <a:r>
              <a:rPr lang="zh-TW" altLang="en-US" sz="3600" dirty="0"/>
              <a:t>）的通訊協定（</a:t>
            </a:r>
            <a:r>
              <a:rPr lang="en-US" altLang="zh-TW" sz="3600" dirty="0"/>
              <a:t>protocol</a:t>
            </a:r>
            <a:r>
              <a:rPr lang="zh-TW" altLang="en-US" sz="3600" dirty="0" smtClean="0"/>
              <a:t>）？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1)UDP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2)IP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3)CSMA/CD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4)HTTP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840453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從 </a:t>
            </a:r>
            <a:r>
              <a:rPr lang="en-US" altLang="zh-TW" sz="3600" dirty="0"/>
              <a:t>http://www.ksu.edu.tw </a:t>
            </a:r>
            <a:r>
              <a:rPr lang="zh-TW" altLang="en-US" sz="3600" dirty="0"/>
              <a:t>網址中，我們可以判斷此單位的類型為下列何者？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非營利組織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教育機構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政府機構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網路服務機構</a:t>
            </a:r>
          </a:p>
        </p:txBody>
      </p:sp>
    </p:spTree>
    <p:extLst>
      <p:ext uri="{BB962C8B-B14F-4D97-AF65-F5344CB8AC3E}">
        <p14:creationId xmlns:p14="http://schemas.microsoft.com/office/powerpoint/2010/main" val="3808010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關於 </a:t>
            </a:r>
            <a:r>
              <a:rPr lang="en-US" altLang="zh-TW" sz="3600" dirty="0"/>
              <a:t>TCP </a:t>
            </a:r>
            <a:r>
              <a:rPr lang="zh-TW" altLang="en-US" sz="3600" dirty="0"/>
              <a:t>埠號（</a:t>
            </a:r>
            <a:r>
              <a:rPr lang="en-US" altLang="zh-TW" sz="3600" dirty="0"/>
              <a:t>port number</a:t>
            </a:r>
            <a:r>
              <a:rPr lang="zh-TW" altLang="en-US" sz="3600" dirty="0"/>
              <a:t>）使用的敘述，下列何者錯誤？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埠號 </a:t>
            </a:r>
            <a:r>
              <a:rPr lang="en-US" altLang="zh-TW" sz="3600" dirty="0"/>
              <a:t>80 </a:t>
            </a:r>
            <a:r>
              <a:rPr lang="zh-TW" altLang="en-US" sz="3600" dirty="0"/>
              <a:t>是 </a:t>
            </a:r>
            <a:r>
              <a:rPr lang="en-US" altLang="zh-TW" sz="3600" dirty="0"/>
              <a:t>HTTP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埠號 </a:t>
            </a:r>
            <a:r>
              <a:rPr lang="en-US" altLang="zh-TW" sz="3600" dirty="0"/>
              <a:t>23 </a:t>
            </a:r>
            <a:r>
              <a:rPr lang="zh-TW" altLang="en-US" sz="3600" dirty="0"/>
              <a:t>是 </a:t>
            </a:r>
            <a:r>
              <a:rPr lang="en-US" altLang="zh-TW" sz="3600" dirty="0"/>
              <a:t>Telnet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埠號 </a:t>
            </a:r>
            <a:r>
              <a:rPr lang="en-US" altLang="zh-TW" sz="3600" dirty="0"/>
              <a:t>20 </a:t>
            </a:r>
            <a:r>
              <a:rPr lang="zh-TW" altLang="en-US" sz="3600" dirty="0"/>
              <a:t>及 </a:t>
            </a:r>
            <a:r>
              <a:rPr lang="en-US" altLang="zh-TW" sz="3600" dirty="0"/>
              <a:t>21 </a:t>
            </a:r>
            <a:r>
              <a:rPr lang="zh-TW" altLang="en-US" sz="3600" dirty="0"/>
              <a:t>是 </a:t>
            </a:r>
            <a:r>
              <a:rPr lang="en-US" altLang="zh-TW" sz="3600" dirty="0"/>
              <a:t>FTP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埠號 </a:t>
            </a:r>
            <a:r>
              <a:rPr lang="en-US" altLang="zh-TW" sz="3600" dirty="0"/>
              <a:t>26 </a:t>
            </a:r>
            <a:r>
              <a:rPr lang="zh-TW" altLang="en-US" sz="3600" dirty="0"/>
              <a:t>是 </a:t>
            </a:r>
            <a:r>
              <a:rPr lang="en-US" altLang="zh-TW" sz="3600" dirty="0"/>
              <a:t>SMTP</a:t>
            </a:r>
          </a:p>
        </p:txBody>
      </p:sp>
    </p:spTree>
    <p:extLst>
      <p:ext uri="{BB962C8B-B14F-4D97-AF65-F5344CB8AC3E}">
        <p14:creationId xmlns:p14="http://schemas.microsoft.com/office/powerpoint/2010/main" val="2535069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對每個網路設備而言，下列何者是獨一無二的？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序號 </a:t>
            </a:r>
            <a:r>
              <a:rPr lang="en-US" altLang="zh-TW" sz="3600" dirty="0"/>
              <a:t>(2)IP</a:t>
            </a:r>
            <a:r>
              <a:rPr lang="zh-TW" altLang="en-US" sz="3600" dirty="0"/>
              <a:t>位址 </a:t>
            </a:r>
            <a:r>
              <a:rPr lang="en-US" altLang="zh-TW" sz="3600" dirty="0"/>
              <a:t>(3)</a:t>
            </a:r>
            <a:r>
              <a:rPr lang="zh-TW" altLang="en-US" sz="3600" dirty="0"/>
              <a:t>網卡位址 </a:t>
            </a:r>
            <a:r>
              <a:rPr lang="en-US" altLang="zh-TW" sz="3600" dirty="0"/>
              <a:t>(4)</a:t>
            </a:r>
            <a:r>
              <a:rPr lang="zh-TW" altLang="en-US" sz="3600" dirty="0"/>
              <a:t>編號</a:t>
            </a:r>
          </a:p>
        </p:txBody>
      </p:sp>
    </p:spTree>
    <p:extLst>
      <p:ext uri="{BB962C8B-B14F-4D97-AF65-F5344CB8AC3E}">
        <p14:creationId xmlns:p14="http://schemas.microsoft.com/office/powerpoint/2010/main" val="2099153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下列何種協定只應用於區域網路之內，是一種將上一層的 </a:t>
            </a:r>
            <a:r>
              <a:rPr lang="en-US" altLang="zh-TW" sz="3600" dirty="0"/>
              <a:t>IP </a:t>
            </a:r>
            <a:r>
              <a:rPr lang="zh-TW" altLang="en-US" sz="3600" dirty="0"/>
              <a:t>位址轉換成實體位址（</a:t>
            </a:r>
            <a:r>
              <a:rPr lang="en-US" altLang="zh-TW" sz="3600" dirty="0"/>
              <a:t>MAC</a:t>
            </a:r>
            <a:r>
              <a:rPr lang="zh-TW" altLang="en-US" sz="3600" dirty="0"/>
              <a:t>）的協定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 MAP (2) ARP (3) ICMP  (4)IP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3273780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在目前網際網路使用的協定中，“利用 </a:t>
            </a:r>
            <a:r>
              <a:rPr lang="en-US" altLang="zh-TW" sz="3600" dirty="0"/>
              <a:t>MAC </a:t>
            </a:r>
            <a:r>
              <a:rPr lang="zh-TW" altLang="en-US" sz="3600" dirty="0"/>
              <a:t>位址表示來源與目的終端設備位置”是屬於下列何層的工作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</a:t>
            </a:r>
            <a:r>
              <a:rPr lang="zh-TW" altLang="en-US" sz="3600" dirty="0"/>
              <a:t>實體層（</a:t>
            </a:r>
            <a:r>
              <a:rPr lang="en-US" altLang="zh-TW" sz="3600" dirty="0"/>
              <a:t>physical layer</a:t>
            </a:r>
            <a:r>
              <a:rPr lang="zh-TW" altLang="en-US" sz="3600" dirty="0"/>
              <a:t>）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傳輸層（</a:t>
            </a:r>
            <a:r>
              <a:rPr lang="en-US" altLang="zh-TW" sz="3600" dirty="0"/>
              <a:t>transport layer</a:t>
            </a:r>
            <a:r>
              <a:rPr lang="zh-TW" altLang="en-US" sz="3600" dirty="0" smtClean="0"/>
              <a:t>）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連結層（</a:t>
            </a:r>
            <a:r>
              <a:rPr lang="en-US" altLang="zh-TW" sz="3600" dirty="0"/>
              <a:t>link layer</a:t>
            </a:r>
            <a:r>
              <a:rPr lang="zh-TW" altLang="en-US" sz="3600" dirty="0"/>
              <a:t>）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網路層（</a:t>
            </a:r>
            <a:r>
              <a:rPr lang="en-US" altLang="zh-TW" sz="3600" dirty="0"/>
              <a:t>network layer</a:t>
            </a:r>
            <a:r>
              <a:rPr lang="zh-TW" altLang="en-US" sz="3600" dirty="0"/>
              <a:t>）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195248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下列何者通訊協定不是用於電子郵件傳輸？</a:t>
            </a:r>
          </a:p>
          <a:p>
            <a:r>
              <a:rPr lang="en-US" altLang="zh-TW" sz="3600" dirty="0"/>
              <a:t>(1) POP3 (2) SMTP (3) SNMP (4) IMAP</a:t>
            </a:r>
          </a:p>
        </p:txBody>
      </p:sp>
    </p:spTree>
    <p:extLst>
      <p:ext uri="{BB962C8B-B14F-4D97-AF65-F5344CB8AC3E}">
        <p14:creationId xmlns:p14="http://schemas.microsoft.com/office/powerpoint/2010/main" val="24787428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4011" y="4461699"/>
            <a:ext cx="875998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上圖為使用</a:t>
            </a:r>
            <a:r>
              <a:rPr lang="en-US" altLang="zh-TW" sz="3600" dirty="0"/>
              <a:t>ipconfig</a:t>
            </a:r>
            <a:r>
              <a:rPr lang="zh-TW" altLang="en-US" sz="3600" dirty="0"/>
              <a:t>所查看到本機的網路資訊，請問該ＰＣ的網址為下列何者？</a:t>
            </a:r>
            <a:r>
              <a:rPr lang="en-US" altLang="zh-TW" sz="3600" dirty="0"/>
              <a:t>(1)172.20.174.235  (2) 172.20.174.254 (3)255.255.255.0 (4) 172.20.174.255</a:t>
            </a:r>
            <a:endParaRPr lang="en-US" altLang="zh-TW" sz="3600" dirty="0"/>
          </a:p>
        </p:txBody>
      </p:sp>
      <p:pic>
        <p:nvPicPr>
          <p:cNvPr id="4" name="圖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772" y="1324284"/>
            <a:ext cx="6978467" cy="31374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0282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上圖為使用</a:t>
            </a:r>
            <a:r>
              <a:rPr lang="en-US" altLang="zh-TW" sz="3600" dirty="0"/>
              <a:t>ipconfig</a:t>
            </a:r>
            <a:r>
              <a:rPr lang="zh-TW" altLang="en-US" sz="3600" dirty="0"/>
              <a:t>所查看到本機的網路資訊，請問該ＰＣ所設定的</a:t>
            </a:r>
            <a:r>
              <a:rPr lang="en-US" altLang="zh-TW" sz="3600" dirty="0"/>
              <a:t>gateway</a:t>
            </a:r>
            <a:r>
              <a:rPr lang="zh-TW" altLang="en-US" sz="3600" dirty="0"/>
              <a:t>網址為下列何者？</a:t>
            </a:r>
            <a:r>
              <a:rPr lang="en-US" altLang="zh-TW" sz="3600" dirty="0"/>
              <a:t>(1)172.20.174.235 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 172.20.174.254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3)255.255.255.0 </a:t>
            </a:r>
          </a:p>
          <a:p>
            <a:r>
              <a:rPr lang="en-US" altLang="zh-TW" sz="3600" dirty="0"/>
              <a:t>(4) 172.20.174.255</a:t>
            </a:r>
          </a:p>
        </p:txBody>
      </p:sp>
    </p:spTree>
    <p:extLst>
      <p:ext uri="{BB962C8B-B14F-4D97-AF65-F5344CB8AC3E}">
        <p14:creationId xmlns:p14="http://schemas.microsoft.com/office/powerpoint/2010/main" val="928260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我們通常會使用 </a:t>
            </a:r>
            <a:r>
              <a:rPr lang="en-US" altLang="zh-TW" sz="3600" dirty="0"/>
              <a:t>ping </a:t>
            </a:r>
            <a:r>
              <a:rPr lang="zh-TW" altLang="en-US" sz="3600" dirty="0"/>
              <a:t>指令測試網路是否通順，請問 </a:t>
            </a:r>
            <a:r>
              <a:rPr lang="en-US" altLang="zh-TW" sz="3600" dirty="0"/>
              <a:t>ping </a:t>
            </a:r>
            <a:r>
              <a:rPr lang="zh-TW" altLang="en-US" sz="3600" dirty="0"/>
              <a:t>所送出的封包屬於下列何者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1)ICMP (2)UDP (3)TCP (4)RARP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716297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下列何種 </a:t>
            </a:r>
            <a:r>
              <a:rPr lang="en-US" altLang="zh-TW" sz="3600" dirty="0"/>
              <a:t>Windows </a:t>
            </a:r>
            <a:r>
              <a:rPr lang="zh-TW" altLang="en-US" sz="3600" dirty="0"/>
              <a:t>命令主要是用來自我測試與遠端網路的連線狀況？</a:t>
            </a:r>
          </a:p>
          <a:p>
            <a:r>
              <a:rPr lang="en-US" altLang="zh-TW" sz="3600" dirty="0"/>
              <a:t>(1)mail (2)ping (3)FTP (4)ipconfig</a:t>
            </a:r>
          </a:p>
        </p:txBody>
      </p:sp>
    </p:spTree>
    <p:extLst>
      <p:ext uri="{BB962C8B-B14F-4D97-AF65-F5344CB8AC3E}">
        <p14:creationId xmlns:p14="http://schemas.microsoft.com/office/powerpoint/2010/main" val="815585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2249" y="3995678"/>
            <a:ext cx="83737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上圖為使用</a:t>
            </a:r>
            <a:r>
              <a:rPr lang="en-US" altLang="zh-TW" sz="3600" dirty="0" err="1"/>
              <a:t>nslookup</a:t>
            </a:r>
            <a:r>
              <a:rPr lang="zh-TW" altLang="en-US" sz="3600" dirty="0"/>
              <a:t>所查看到的網路資訊，請問此次查詢是向哪一個</a:t>
            </a:r>
            <a:r>
              <a:rPr lang="en-US" altLang="zh-TW" sz="3600" dirty="0"/>
              <a:t>DNS</a:t>
            </a:r>
            <a:r>
              <a:rPr lang="zh-TW" altLang="en-US" sz="3600" dirty="0"/>
              <a:t>伺服器發出查詢？</a:t>
            </a:r>
            <a:r>
              <a:rPr lang="en-US" altLang="zh-TW" sz="3600" dirty="0"/>
              <a:t>(1)120.114.150.255  (2)www.ksu.edu.tw (3)www.google.com (4) 120.114.150.1</a:t>
            </a:r>
            <a:endParaRPr lang="en-US" altLang="zh-TW" sz="3600" dirty="0"/>
          </a:p>
        </p:txBody>
      </p:sp>
      <p:pic>
        <p:nvPicPr>
          <p:cNvPr id="4" name="圖片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r="50175" b="39612"/>
          <a:stretch/>
        </p:blipFill>
        <p:spPr bwMode="auto">
          <a:xfrm>
            <a:off x="1975373" y="1276285"/>
            <a:ext cx="5227515" cy="27193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7709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你收到一份電子郵件，它引導你拜訪外觀看似你房貸銀行的假網站。此種電子郵件屬於下列那一類型？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病毒養殖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彈出式廣告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垃圾郵件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網路釣魚</a:t>
            </a:r>
          </a:p>
        </p:txBody>
      </p:sp>
    </p:spTree>
    <p:extLst>
      <p:ext uri="{BB962C8B-B14F-4D97-AF65-F5344CB8AC3E}">
        <p14:creationId xmlns:p14="http://schemas.microsoft.com/office/powerpoint/2010/main" val="2615269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212" y="1863465"/>
            <a:ext cx="850757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某電腦中了勒索病毒，無法開啟重要檔案，請問下列何種方式是解決這個問題的最好方式？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到</a:t>
            </a:r>
            <a:r>
              <a:rPr lang="en-US" altLang="zh-TW" sz="3600" dirty="0"/>
              <a:t>[</a:t>
            </a:r>
            <a:r>
              <a:rPr lang="zh-TW" altLang="en-US" sz="3600" dirty="0"/>
              <a:t>資源回收桶</a:t>
            </a:r>
            <a:r>
              <a:rPr lang="en-US" altLang="zh-TW" sz="3600" dirty="0"/>
              <a:t>]</a:t>
            </a:r>
            <a:r>
              <a:rPr lang="zh-TW" altLang="en-US" sz="3600" dirty="0"/>
              <a:t>還原被勒索的檔案</a:t>
            </a:r>
          </a:p>
          <a:p>
            <a:r>
              <a:rPr lang="en-US" altLang="zh-TW" sz="3600" dirty="0"/>
              <a:t>(2)</a:t>
            </a:r>
            <a:r>
              <a:rPr lang="zh-TW" altLang="en-US" sz="3600" dirty="0"/>
              <a:t>使用</a:t>
            </a:r>
            <a:r>
              <a:rPr lang="en-US" altLang="zh-TW" sz="3600" dirty="0"/>
              <a:t>[</a:t>
            </a:r>
            <a:r>
              <a:rPr lang="zh-TW" altLang="en-US" sz="3600" dirty="0"/>
              <a:t>磁碟清理</a:t>
            </a:r>
            <a:r>
              <a:rPr lang="en-US" altLang="zh-TW" sz="3600" dirty="0"/>
              <a:t>]</a:t>
            </a:r>
            <a:r>
              <a:rPr lang="zh-TW" altLang="en-US" sz="3600" dirty="0"/>
              <a:t>工具，試著將病毒清除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定期使用</a:t>
            </a:r>
            <a:r>
              <a:rPr lang="en-US" altLang="zh-TW" sz="3600" dirty="0"/>
              <a:t>[</a:t>
            </a:r>
            <a:r>
              <a:rPr lang="zh-TW" altLang="en-US" sz="3600" dirty="0"/>
              <a:t>磁碟重組工具</a:t>
            </a:r>
            <a:r>
              <a:rPr lang="en-US" altLang="zh-TW" sz="3600" dirty="0"/>
              <a:t>]</a:t>
            </a:r>
            <a:r>
              <a:rPr lang="zh-TW" altLang="en-US" sz="3600" dirty="0"/>
              <a:t>等功能</a:t>
            </a:r>
          </a:p>
          <a:p>
            <a:r>
              <a:rPr lang="en-US" altLang="zh-TW" sz="3600" dirty="0"/>
              <a:t>(4)</a:t>
            </a:r>
            <a:r>
              <a:rPr lang="zh-TW" altLang="en-US" sz="3600" dirty="0"/>
              <a:t>定期備份重要檔案於離線儲存設備中</a:t>
            </a:r>
          </a:p>
        </p:txBody>
      </p:sp>
    </p:spTree>
    <p:extLst>
      <p:ext uri="{BB962C8B-B14F-4D97-AF65-F5344CB8AC3E}">
        <p14:creationId xmlns:p14="http://schemas.microsoft.com/office/powerpoint/2010/main" val="2059400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將多個公司名稱、姓名或商標等搶先註冊為網域名稱，再以高價轉售給其他需要的企業或個人的行為稱作：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網路蟑螂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網路釣魚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網路駭客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網路侵權</a:t>
            </a:r>
          </a:p>
        </p:txBody>
      </p:sp>
    </p:spTree>
    <p:extLst>
      <p:ext uri="{BB962C8B-B14F-4D97-AF65-F5344CB8AC3E}">
        <p14:creationId xmlns:p14="http://schemas.microsoft.com/office/powerpoint/2010/main" val="3038166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38" y="1863465"/>
            <a:ext cx="75746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利用偽造的 </a:t>
            </a:r>
            <a:r>
              <a:rPr lang="en-US" altLang="zh-TW" sz="3600" dirty="0"/>
              <a:t>email </a:t>
            </a:r>
            <a:r>
              <a:rPr lang="zh-TW" altLang="en-US" sz="3600" dirty="0"/>
              <a:t>或是網站去偷竊他人的個人資料，這種行為是違反資訊倫理的那項議題</a:t>
            </a:r>
            <a:r>
              <a:rPr lang="zh-TW" altLang="en-US" sz="3600" dirty="0" smtClean="0"/>
              <a:t>？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1)</a:t>
            </a:r>
            <a:r>
              <a:rPr lang="zh-TW" altLang="en-US" sz="3600" dirty="0"/>
              <a:t>資訊安全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使用權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3)</a:t>
            </a:r>
            <a:r>
              <a:rPr lang="zh-TW" altLang="en-US" sz="3600" dirty="0"/>
              <a:t>著作權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4)</a:t>
            </a:r>
            <a:r>
              <a:rPr lang="zh-TW" altLang="en-US" sz="3600" dirty="0"/>
              <a:t>隱私權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035925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0489" y="550561"/>
            <a:ext cx="2492990" cy="64633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隨</a:t>
            </a:r>
            <a:r>
              <a:rPr lang="zh-TW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堂小測驗</a:t>
            </a:r>
            <a:endParaRPr lang="zh-TW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6631" y="1863465"/>
            <a:ext cx="81507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dirty="0"/>
              <a:t>下列敘述何者不屬於實體安全（</a:t>
            </a:r>
            <a:r>
              <a:rPr lang="en-US" altLang="zh-TW" sz="3600" dirty="0"/>
              <a:t>physical security</a:t>
            </a:r>
            <a:r>
              <a:rPr lang="zh-TW" altLang="en-US" sz="3600" dirty="0"/>
              <a:t>）所涵蓋範圍？</a:t>
            </a:r>
          </a:p>
          <a:p>
            <a:r>
              <a:rPr lang="en-US" altLang="zh-TW" sz="3600" dirty="0"/>
              <a:t>(1)</a:t>
            </a:r>
            <a:r>
              <a:rPr lang="zh-TW" altLang="en-US" sz="3600" dirty="0"/>
              <a:t>對自然天災所可能產生之威脅與防範 </a:t>
            </a:r>
            <a:endParaRPr lang="en-US" altLang="zh-TW" sz="3600" dirty="0" smtClean="0"/>
          </a:p>
          <a:p>
            <a:r>
              <a:rPr lang="en-US" altLang="zh-TW" sz="3600" dirty="0" smtClean="0"/>
              <a:t>(</a:t>
            </a:r>
            <a:r>
              <a:rPr lang="en-US" altLang="zh-TW" sz="3600" dirty="0"/>
              <a:t>2)</a:t>
            </a:r>
            <a:r>
              <a:rPr lang="zh-TW" altLang="en-US" sz="3600" dirty="0"/>
              <a:t>對人為入侵所可能產生之威脅與防範</a:t>
            </a:r>
          </a:p>
          <a:p>
            <a:r>
              <a:rPr lang="en-US" altLang="zh-TW" sz="3600" dirty="0"/>
              <a:t>(3)</a:t>
            </a:r>
            <a:r>
              <a:rPr lang="zh-TW" altLang="en-US" sz="3600" dirty="0"/>
              <a:t>對人為侵權所可能產生之威脅與防範 </a:t>
            </a:r>
            <a:r>
              <a:rPr lang="en-US" altLang="zh-TW" sz="3600" dirty="0"/>
              <a:t>(4)</a:t>
            </a:r>
            <a:r>
              <a:rPr lang="zh-TW" altLang="en-US" sz="3600" dirty="0"/>
              <a:t>對火災所可能產生之威脅與防範</a:t>
            </a:r>
          </a:p>
        </p:txBody>
      </p:sp>
    </p:spTree>
    <p:extLst>
      <p:ext uri="{BB962C8B-B14F-4D97-AF65-F5344CB8AC3E}">
        <p14:creationId xmlns:p14="http://schemas.microsoft.com/office/powerpoint/2010/main" val="328928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2328</Words>
  <Application>Microsoft Office PowerPoint</Application>
  <PresentationFormat>如螢幕大小 (4:3)</PresentationFormat>
  <Paragraphs>255</Paragraphs>
  <Slides>51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6" baseType="lpstr">
      <vt:lpstr>新細明體</vt:lpstr>
      <vt:lpstr>Arial</vt:lpstr>
      <vt:lpstr>Calibri</vt:lpstr>
      <vt:lpstr>Calibri Light</vt:lpstr>
      <vt:lpstr>Office 佈景主題</vt:lpstr>
      <vt:lpstr>網路安全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網路安全</dc:title>
  <dc:creator>BREAKALLCTF{Letmeseesee}</dc:creator>
  <cp:lastModifiedBy>Win7</cp:lastModifiedBy>
  <cp:revision>19</cp:revision>
  <dcterms:created xsi:type="dcterms:W3CDTF">2019-05-14T03:32:08Z</dcterms:created>
  <dcterms:modified xsi:type="dcterms:W3CDTF">2019-05-14T04:05:09Z</dcterms:modified>
</cp:coreProperties>
</file>