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9" r:id="rId5"/>
    <p:sldId id="278" r:id="rId6"/>
    <p:sldId id="269" r:id="rId7"/>
    <p:sldId id="280" r:id="rId8"/>
    <p:sldId id="260" r:id="rId9"/>
    <p:sldId id="268" r:id="rId10"/>
    <p:sldId id="261" r:id="rId11"/>
    <p:sldId id="262" r:id="rId12"/>
    <p:sldId id="263" r:id="rId13"/>
    <p:sldId id="267" r:id="rId14"/>
    <p:sldId id="281" r:id="rId15"/>
    <p:sldId id="264" r:id="rId16"/>
    <p:sldId id="282" r:id="rId17"/>
    <p:sldId id="283" r:id="rId18"/>
    <p:sldId id="266" r:id="rId19"/>
    <p:sldId id="286" r:id="rId20"/>
    <p:sldId id="287" r:id="rId21"/>
    <p:sldId id="284" r:id="rId22"/>
    <p:sldId id="265" r:id="rId23"/>
    <p:sldId id="272" r:id="rId24"/>
    <p:sldId id="258" r:id="rId25"/>
    <p:sldId id="257" r:id="rId26"/>
    <p:sldId id="273" r:id="rId27"/>
    <p:sldId id="274" r:id="rId28"/>
    <p:sldId id="285" r:id="rId29"/>
    <p:sldId id="271" r:id="rId30"/>
    <p:sldId id="259" r:id="rId31"/>
    <p:sldId id="270" r:id="rId32"/>
    <p:sldId id="288" r:id="rId33"/>
    <p:sldId id="289" r:id="rId34"/>
    <p:sldId id="290" r:id="rId3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02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B102-37E7-4F08-AAF4-811026AEBBD8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5EAD-7AD8-41E1-A556-E2BCC882A3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B102-37E7-4F08-AAF4-811026AEBBD8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5EAD-7AD8-41E1-A556-E2BCC882A3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B102-37E7-4F08-AAF4-811026AEBBD8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5EAD-7AD8-41E1-A556-E2BCC882A3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B102-37E7-4F08-AAF4-811026AEBBD8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5EAD-7AD8-41E1-A556-E2BCC882A3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B102-37E7-4F08-AAF4-811026AEBBD8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5EAD-7AD8-41E1-A556-E2BCC882A3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B102-37E7-4F08-AAF4-811026AEBBD8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5EAD-7AD8-41E1-A556-E2BCC882A3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B102-37E7-4F08-AAF4-811026AEBBD8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5EAD-7AD8-41E1-A556-E2BCC882A3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B102-37E7-4F08-AAF4-811026AEBBD8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5EAD-7AD8-41E1-A556-E2BCC882A3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B102-37E7-4F08-AAF4-811026AEBBD8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5EAD-7AD8-41E1-A556-E2BCC882A3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B102-37E7-4F08-AAF4-811026AEBBD8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5EAD-7AD8-41E1-A556-E2BCC882A3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B102-37E7-4F08-AAF4-811026AEBBD8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5EAD-7AD8-41E1-A556-E2BCC882A3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6B102-37E7-4F08-AAF4-811026AEBBD8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C5EAD-7AD8-41E1-A556-E2BCC882A3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/>
              <a:t>Wireshark</a:t>
            </a:r>
            <a:r>
              <a:rPr lang="zh-TW" altLang="en-US" dirty="0" smtClean="0"/>
              <a:t>實測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1043608" y="2204864"/>
            <a:ext cx="71816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>
                <a:latin typeface="微軟正黑體" pitchFamily="34" charset="-120"/>
                <a:ea typeface="微軟正黑體" pitchFamily="34" charset="-120"/>
              </a:rPr>
              <a:t>1. </a:t>
            </a:r>
            <a:r>
              <a:rPr lang="en-US" altLang="zh-TW" sz="3600" dirty="0" err="1" smtClean="0">
                <a:latin typeface="微軟正黑體" pitchFamily="34" charset="-120"/>
                <a:ea typeface="微軟正黑體" pitchFamily="34" charset="-120"/>
              </a:rPr>
              <a:t>Wireshark:what,how,howto</a:t>
            </a:r>
            <a:endParaRPr lang="en-US" altLang="zh-TW" sz="3600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sz="3600" dirty="0" smtClean="0">
                <a:latin typeface="微軟正黑體" pitchFamily="34" charset="-120"/>
                <a:ea typeface="微軟正黑體" pitchFamily="34" charset="-120"/>
              </a:rPr>
              <a:t>2. </a:t>
            </a:r>
            <a:r>
              <a:rPr lang="en-US" altLang="zh-TW" sz="3600" dirty="0" err="1" smtClean="0">
                <a:latin typeface="微軟正黑體" pitchFamily="34" charset="-120"/>
                <a:ea typeface="微軟正黑體" pitchFamily="34" charset="-120"/>
              </a:rPr>
              <a:t>Wireshark@windows</a:t>
            </a:r>
            <a:r>
              <a:rPr lang="en-US" altLang="zh-TW" sz="36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安裝札記</a:t>
            </a:r>
            <a:endParaRPr lang="en-US" altLang="zh-TW" sz="3600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sz="3600" dirty="0" smtClean="0">
                <a:latin typeface="微軟正黑體" pitchFamily="34" charset="-120"/>
                <a:ea typeface="微軟正黑體" pitchFamily="34" charset="-120"/>
              </a:rPr>
              <a:t>3. </a:t>
            </a:r>
            <a:r>
              <a:rPr lang="en-US" altLang="zh-TW" sz="3600" dirty="0" err="1" smtClean="0">
                <a:latin typeface="微軟正黑體" pitchFamily="34" charset="-120"/>
                <a:ea typeface="微軟正黑體" pitchFamily="34" charset="-120"/>
              </a:rPr>
              <a:t>Wireshark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封包實測</a:t>
            </a:r>
            <a:endParaRPr lang="en-US" altLang="zh-TW" sz="3600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sz="3600" dirty="0" smtClean="0"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en-US" altLang="zh-TW" sz="3600" dirty="0" smtClean="0">
                <a:latin typeface="微軟正黑體" pitchFamily="34" charset="-120"/>
                <a:ea typeface="微軟正黑體" pitchFamily="34" charset="-120"/>
              </a:rPr>
              <a:t>.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學習心得</a:t>
            </a:r>
            <a:endParaRPr lang="zh-TW" altLang="en-US" sz="36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11560" y="548680"/>
            <a:ext cx="22605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 dirty="0" smtClean="0">
                <a:latin typeface="微軟正黑體" pitchFamily="34" charset="-120"/>
                <a:ea typeface="微軟正黑體" pitchFamily="34" charset="-120"/>
              </a:rPr>
              <a:t>Agenda</a:t>
            </a:r>
            <a:endParaRPr lang="en-US" altLang="zh-TW" sz="4400" dirty="0" smtClean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621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051720" y="2852936"/>
            <a:ext cx="24929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❶</a:t>
            </a:r>
            <a:r>
              <a:rPr lang="en-US" altLang="zh-TW" sz="3600" dirty="0" smtClean="0">
                <a:latin typeface="微軟正黑體" pitchFamily="34" charset="-120"/>
                <a:ea typeface="微軟正黑體" pitchFamily="34" charset="-120"/>
              </a:rPr>
              <a:t>What</a:t>
            </a:r>
          </a:p>
          <a:p>
            <a:r>
              <a:rPr lang="en-US" altLang="zh-TW" sz="3600" dirty="0" smtClean="0">
                <a:latin typeface="微軟正黑體" pitchFamily="34" charset="-120"/>
                <a:ea typeface="微軟正黑體" pitchFamily="34" charset="-120"/>
              </a:rPr>
              <a:t>❷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功能</a:t>
            </a:r>
            <a:endParaRPr lang="en-US" altLang="zh-TW" sz="3600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sz="3600" dirty="0" smtClean="0">
                <a:latin typeface="微軟正黑體" pitchFamily="34" charset="-120"/>
                <a:ea typeface="微軟正黑體" pitchFamily="34" charset="-120"/>
              </a:rPr>
              <a:t>❸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使用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介面</a:t>
            </a:r>
            <a:endParaRPr lang="en-US" altLang="zh-TW" sz="3600" dirty="0" smtClean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3. </a:t>
            </a:r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Wireshark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封包實測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3-1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捕捉封包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開啟與關閉</a:t>
            </a:r>
            <a:r>
              <a:rPr lang="en-US" altLang="zh-TW" sz="4000" dirty="0" err="1" smtClean="0">
                <a:latin typeface="微軟正黑體" pitchFamily="34" charset="-120"/>
                <a:ea typeface="微軟正黑體" pitchFamily="34" charset="-120"/>
              </a:rPr>
              <a:t>Wireshark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None/>
            </a:pP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3-2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開啟待分析的</a:t>
            </a:r>
            <a:r>
              <a:rPr lang="en-US" altLang="zh-TW" sz="4000" dirty="0" err="1" smtClean="0">
                <a:latin typeface="微軟正黑體" pitchFamily="34" charset="-120"/>
                <a:ea typeface="微軟正黑體" pitchFamily="34" charset="-120"/>
              </a:rPr>
              <a:t>pcapng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檔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None/>
            </a:pP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3-3Wireshark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基本測試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 使用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Display filter(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過濾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)</a:t>
            </a:r>
          </a:p>
          <a:p>
            <a:pPr>
              <a:buNone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         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3-3-1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捉取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DNS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封包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None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         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3-3-2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捉取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HTTP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封包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None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         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3-3-3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捉取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TCP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三向交換封包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None/>
            </a:pP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3-4TCP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封包分析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None/>
            </a:pP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3-5UDP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封包分析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None/>
            </a:pP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3-6IP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封包分析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None/>
            </a:pP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3-7Wireshark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測試技術</a:t>
            </a:r>
            <a:r>
              <a:rPr lang="en-US" altLang="zh-TW" sz="4000" dirty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Follow TCP/UDP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Stream</a:t>
            </a:r>
          </a:p>
          <a:p>
            <a:pPr>
              <a:buNone/>
            </a:pP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3-8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後續進階研讀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71600" y="692696"/>
            <a:ext cx="54087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>
                <a:latin typeface="微軟正黑體" pitchFamily="34" charset="-120"/>
                <a:ea typeface="微軟正黑體" pitchFamily="34" charset="-120"/>
              </a:rPr>
              <a:t>3.1.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開啟與關閉</a:t>
            </a:r>
            <a:r>
              <a:rPr lang="en-US" altLang="zh-TW" sz="3600" dirty="0" err="1" smtClean="0">
                <a:latin typeface="微軟正黑體" pitchFamily="34" charset="-120"/>
                <a:ea typeface="微軟正黑體" pitchFamily="34" charset="-120"/>
              </a:rPr>
              <a:t>Wireshark</a:t>
            </a:r>
            <a:endParaRPr lang="zh-TW" altLang="en-US" sz="36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1600" y="1700808"/>
            <a:ext cx="33810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dirty="0">
                <a:latin typeface="微軟正黑體" pitchFamily="34" charset="-120"/>
                <a:ea typeface="微軟正黑體" pitchFamily="34" charset="-120"/>
              </a:rPr>
              <a:t>單元學習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目標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endParaRPr lang="zh-TW" altLang="en-US" sz="40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87624" y="2708920"/>
            <a:ext cx="683283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如何開啟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Wireshark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Capture filter: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選擇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Wireshark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捕抓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的網路介面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停止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Wireshark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將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Wireshark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捕抓的封包另存新檔以待分析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Capture filter:</a:t>
            </a:r>
            <a:r>
              <a:rPr lang="zh-TW" altLang="en-US" dirty="0" smtClean="0"/>
              <a:t>選擇要傾聽的網卡介面</a:t>
            </a:r>
            <a:endParaRPr lang="zh-TW" alt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21472"/>
            <a:ext cx="8229600" cy="4483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單箭頭接點 6"/>
          <p:cNvCxnSpPr/>
          <p:nvPr/>
        </p:nvCxnSpPr>
        <p:spPr>
          <a:xfrm>
            <a:off x="971600" y="3501008"/>
            <a:ext cx="576064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467544" y="620688"/>
            <a:ext cx="52383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b="1" dirty="0" smtClean="0"/>
              <a:t>開始擷取</a:t>
            </a:r>
            <a:r>
              <a:rPr lang="en-US" altLang="zh-TW" sz="3600" b="1" dirty="0" smtClean="0"/>
              <a:t>(capture)</a:t>
            </a:r>
            <a:r>
              <a:rPr lang="zh-TW" altLang="en-US" sz="3600" b="1" dirty="0" smtClean="0"/>
              <a:t>封包</a:t>
            </a:r>
            <a:r>
              <a:rPr lang="en-US" altLang="zh-TW" sz="3600" b="1" dirty="0" smtClean="0"/>
              <a:t>::</a:t>
            </a:r>
          </a:p>
          <a:p>
            <a:r>
              <a:rPr lang="zh-TW" altLang="en-US" b="1" dirty="0"/>
              <a:t>抓他</a:t>
            </a:r>
            <a:r>
              <a:rPr lang="zh-TW" altLang="en-US" b="1" dirty="0" smtClean="0"/>
              <a:t>個</a:t>
            </a:r>
            <a:r>
              <a:rPr lang="en-US" altLang="zh-TW" b="1" dirty="0" smtClean="0"/>
              <a:t>30</a:t>
            </a:r>
            <a:r>
              <a:rPr lang="zh-TW" altLang="en-US" b="1" dirty="0" smtClean="0"/>
              <a:t>秒的封包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395536" y="1484784"/>
            <a:ext cx="36004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467544" y="620688"/>
            <a:ext cx="52383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b="1" dirty="0"/>
              <a:t>停止</a:t>
            </a:r>
            <a:r>
              <a:rPr lang="zh-TW" altLang="en-US" sz="3600" b="1" dirty="0" smtClean="0"/>
              <a:t>擷取</a:t>
            </a:r>
            <a:r>
              <a:rPr lang="en-US" altLang="zh-TW" sz="3600" b="1" dirty="0" smtClean="0"/>
              <a:t>::</a:t>
            </a:r>
          </a:p>
          <a:p>
            <a:r>
              <a:rPr lang="zh-TW" altLang="en-US" b="1" dirty="0" smtClean="0"/>
              <a:t>只需</a:t>
            </a:r>
            <a:r>
              <a:rPr lang="zh-TW" altLang="en-US" b="1" dirty="0"/>
              <a:t>按下畫面上</a:t>
            </a:r>
            <a:r>
              <a:rPr lang="zh-TW" altLang="en-US" b="1" dirty="0" smtClean="0"/>
              <a:t>的紅色按鈕</a:t>
            </a:r>
            <a:r>
              <a:rPr lang="zh-TW" altLang="en-US" b="1" dirty="0"/>
              <a:t>，即可停止擷取封包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395536" y="1484784"/>
            <a:ext cx="36004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另存新檔</a:t>
            </a: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02234"/>
          </a:xfrm>
        </p:spPr>
        <p:txBody>
          <a:bodyPr>
            <a:normAutofit fontScale="90000"/>
          </a:bodyPr>
          <a:lstStyle/>
          <a:p>
            <a:r>
              <a:rPr lang="zh-TW" altLang="en-US" b="1" dirty="0" smtClean="0"/>
              <a:t>選擇存放的目錄位置</a:t>
            </a: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zh-TW" altLang="en-US" b="1" dirty="0" smtClean="0"/>
              <a:t>然後按下存檔</a:t>
            </a: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zh-TW" altLang="en-US" b="1" dirty="0" smtClean="0"/>
              <a:t>即可完成存檔</a:t>
            </a:r>
            <a:endParaRPr lang="zh-TW" altLang="en-US" b="1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2564904"/>
            <a:ext cx="577596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71600" y="692696"/>
            <a:ext cx="5870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>
                <a:latin typeface="微軟正黑體" pitchFamily="34" charset="-120"/>
                <a:ea typeface="微軟正黑體" pitchFamily="34" charset="-120"/>
              </a:rPr>
              <a:t>3.2.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開啟</a:t>
            </a:r>
            <a:r>
              <a:rPr lang="en-US" altLang="zh-TW" sz="3600" dirty="0" err="1" smtClean="0">
                <a:latin typeface="微軟正黑體" pitchFamily="34" charset="-120"/>
                <a:ea typeface="微軟正黑體" pitchFamily="34" charset="-120"/>
              </a:rPr>
              <a:t>Wireshark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封包檔案</a:t>
            </a:r>
            <a:endParaRPr lang="zh-TW" altLang="en-US" sz="36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1600" y="1700808"/>
            <a:ext cx="33810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dirty="0">
                <a:latin typeface="微軟正黑體" pitchFamily="34" charset="-120"/>
                <a:ea typeface="微軟正黑體" pitchFamily="34" charset="-120"/>
              </a:rPr>
              <a:t>單元學習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目標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endParaRPr lang="zh-TW" altLang="en-US" sz="40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87624" y="2708920"/>
            <a:ext cx="68328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使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用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Wireshark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開啟封包檔案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632" r="11518" b="7090"/>
          <a:stretch>
            <a:fillRect/>
          </a:stretch>
        </p:blipFill>
        <p:spPr bwMode="auto">
          <a:xfrm>
            <a:off x="539551" y="1412776"/>
            <a:ext cx="8101411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橢圓 4"/>
          <p:cNvSpPr/>
          <p:nvPr/>
        </p:nvSpPr>
        <p:spPr>
          <a:xfrm>
            <a:off x="1403648" y="2132856"/>
            <a:ext cx="79208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向右箭號 5"/>
          <p:cNvSpPr/>
          <p:nvPr/>
        </p:nvSpPr>
        <p:spPr>
          <a:xfrm>
            <a:off x="467544" y="2060848"/>
            <a:ext cx="792088" cy="648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選擇要開啟的檔案</a:t>
            </a: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開啟後的檔案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不</a:t>
            </a:r>
            <a:r>
              <a:rPr lang="en-US" altLang="zh-TW" dirty="0" smtClean="0"/>
              <a:t>OK</a:t>
            </a:r>
            <a:endParaRPr lang="zh-TW" altLang="en-US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OK</a:t>
            </a:r>
            <a:endParaRPr lang="zh-TW" altLang="en-US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3.3.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Wireshark</a:t>
            </a:r>
            <a:r>
              <a:rPr lang="zh-TW" altLang="en-US" b="1" dirty="0"/>
              <a:t>操作介面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sv-SE" dirty="0"/>
              <a:t>封包列表窗格</a:t>
            </a:r>
            <a:r>
              <a:rPr lang="sv-SE" altLang="zh-TW" dirty="0"/>
              <a:t> (</a:t>
            </a:r>
            <a:r>
              <a:rPr lang="sv-SE" altLang="zh-TW" b="1" dirty="0"/>
              <a:t>Packet List pane</a:t>
            </a:r>
            <a:r>
              <a:rPr lang="sv-SE" altLang="zh-TW" dirty="0"/>
              <a:t>)</a:t>
            </a:r>
            <a:endParaRPr lang="zh-TW" alt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21472"/>
            <a:ext cx="8229600" cy="4483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sv-SE" dirty="0"/>
              <a:t>封包列表窗格</a:t>
            </a:r>
            <a:r>
              <a:rPr lang="sv-SE" altLang="zh-TW" dirty="0"/>
              <a:t> (</a:t>
            </a:r>
            <a:r>
              <a:rPr lang="sv-SE" altLang="zh-TW" b="1" dirty="0"/>
              <a:t>Packet List pane</a:t>
            </a:r>
            <a:r>
              <a:rPr lang="sv-SE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 fontAlgn="base">
              <a:buNone/>
            </a:pPr>
            <a:r>
              <a:rPr lang="en-US" altLang="zh-TW" dirty="0" smtClean="0"/>
              <a:t>7</a:t>
            </a:r>
            <a:r>
              <a:rPr lang="zh-TW" altLang="en-US" dirty="0" smtClean="0"/>
              <a:t>個</a:t>
            </a:r>
            <a:r>
              <a:rPr lang="zh-TW" altLang="en-US" dirty="0"/>
              <a:t>欄位</a:t>
            </a:r>
            <a:r>
              <a:rPr lang="zh-TW" altLang="en-US" dirty="0" smtClean="0"/>
              <a:t>：</a:t>
            </a:r>
            <a:r>
              <a:rPr lang="en-US" altLang="zh-TW" dirty="0" smtClean="0"/>
              <a:t>[</a:t>
            </a:r>
            <a:r>
              <a:rPr lang="zh-TW" altLang="en-US" dirty="0" smtClean="0"/>
              <a:t>可自訂顯示</a:t>
            </a:r>
            <a:r>
              <a:rPr lang="zh-TW" altLang="en-US" dirty="0" smtClean="0"/>
              <a:t>欄位</a:t>
            </a:r>
            <a:r>
              <a:rPr lang="en-US" altLang="zh-TW" dirty="0" smtClean="0"/>
              <a:t>]</a:t>
            </a:r>
            <a:endParaRPr lang="zh-TW" altLang="en-US" dirty="0"/>
          </a:p>
          <a:p>
            <a:pPr marL="514350" indent="-514350" fontAlgn="base">
              <a:buNone/>
            </a:pPr>
            <a:r>
              <a:rPr lang="zh-TW" altLang="en-US" dirty="0"/>
              <a:t> </a:t>
            </a:r>
          </a:p>
          <a:p>
            <a:pPr marL="514350" indent="-514350" fontAlgn="base">
              <a:buNone/>
            </a:pPr>
            <a:r>
              <a:rPr lang="en-US" altLang="zh-TW" dirty="0"/>
              <a:t>No : </a:t>
            </a:r>
            <a:r>
              <a:rPr lang="zh-TW" altLang="en-US" dirty="0"/>
              <a:t>擷取封</a:t>
            </a:r>
            <a:r>
              <a:rPr lang="zh-TW" altLang="en-US" dirty="0" smtClean="0"/>
              <a:t>包編號</a:t>
            </a:r>
            <a:endParaRPr lang="zh-TW" altLang="en-US" dirty="0"/>
          </a:p>
          <a:p>
            <a:pPr marL="514350" indent="-514350" fontAlgn="base">
              <a:buNone/>
            </a:pPr>
            <a:r>
              <a:rPr lang="zh-TW" altLang="en-US" dirty="0"/>
              <a:t> </a:t>
            </a:r>
          </a:p>
          <a:p>
            <a:pPr marL="514350" indent="-514350" fontAlgn="base">
              <a:buNone/>
            </a:pPr>
            <a:r>
              <a:rPr lang="en-US" altLang="zh-TW" dirty="0"/>
              <a:t>Time</a:t>
            </a:r>
            <a:r>
              <a:rPr lang="zh-TW" altLang="en-US" dirty="0"/>
              <a:t>：封包擷取時間</a:t>
            </a:r>
            <a:r>
              <a:rPr lang="en-US" altLang="zh-TW" dirty="0"/>
              <a:t>(</a:t>
            </a:r>
            <a:r>
              <a:rPr lang="zh-TW" altLang="en-US" dirty="0"/>
              <a:t>預設從開始擷取為第</a:t>
            </a:r>
            <a:r>
              <a:rPr lang="en-US" altLang="zh-TW" dirty="0"/>
              <a:t>0</a:t>
            </a:r>
            <a:r>
              <a:rPr lang="zh-TW" altLang="en-US" dirty="0"/>
              <a:t>秒</a:t>
            </a:r>
            <a:r>
              <a:rPr lang="en-US" altLang="zh-TW" dirty="0"/>
              <a:t>)</a:t>
            </a:r>
          </a:p>
          <a:p>
            <a:pPr marL="514350" indent="-514350" fontAlgn="base">
              <a:buNone/>
            </a:pPr>
            <a:r>
              <a:rPr lang="en-US" altLang="zh-TW" dirty="0"/>
              <a:t> </a:t>
            </a:r>
          </a:p>
          <a:p>
            <a:pPr marL="514350" indent="-514350" fontAlgn="base">
              <a:buNone/>
            </a:pPr>
            <a:r>
              <a:rPr lang="en-US" altLang="zh-TW" dirty="0"/>
              <a:t>Source</a:t>
            </a:r>
            <a:r>
              <a:rPr lang="zh-TW" altLang="en-US" dirty="0"/>
              <a:t>：封包傳送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來源</a:t>
            </a:r>
          </a:p>
          <a:p>
            <a:pPr marL="514350" indent="-514350" fontAlgn="base">
              <a:buNone/>
            </a:pPr>
            <a:r>
              <a:rPr lang="zh-TW" altLang="en-US" dirty="0"/>
              <a:t> </a:t>
            </a:r>
          </a:p>
          <a:p>
            <a:pPr marL="514350" indent="-514350" fontAlgn="base">
              <a:buNone/>
            </a:pPr>
            <a:r>
              <a:rPr lang="en-US" altLang="zh-TW" dirty="0"/>
              <a:t>Destination</a:t>
            </a:r>
            <a:r>
              <a:rPr lang="zh-TW" altLang="en-US" dirty="0"/>
              <a:t>：封包傳送</a:t>
            </a:r>
            <a:r>
              <a:rPr lang="zh-TW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目的地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 fontAlgn="base">
              <a:buNone/>
            </a:pPr>
            <a:r>
              <a:rPr lang="zh-TW" altLang="en-US" dirty="0"/>
              <a:t> </a:t>
            </a:r>
          </a:p>
          <a:p>
            <a:pPr marL="514350" indent="-514350" fontAlgn="base">
              <a:buNone/>
            </a:pPr>
            <a:r>
              <a:rPr lang="en-US" altLang="zh-TW" dirty="0"/>
              <a:t>Protocol</a:t>
            </a:r>
            <a:r>
              <a:rPr lang="zh-TW" altLang="en-US" dirty="0"/>
              <a:t>：傳輸</a:t>
            </a:r>
            <a:r>
              <a:rPr lang="zh-TW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協定</a:t>
            </a:r>
            <a:endParaRPr lang="en-US" altLang="zh-TW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 fontAlgn="base">
              <a:buNone/>
            </a:pPr>
            <a:endParaRPr lang="en-US" altLang="zh-TW" dirty="0" smtClean="0"/>
          </a:p>
          <a:p>
            <a:pPr marL="514350" indent="-514350" fontAlgn="base">
              <a:buNone/>
            </a:pPr>
            <a:r>
              <a:rPr lang="en-US" altLang="zh-TW" dirty="0" smtClean="0"/>
              <a:t>Length</a:t>
            </a:r>
            <a:r>
              <a:rPr lang="zh-TW" altLang="en-US" dirty="0" smtClean="0"/>
              <a:t>：封包</a:t>
            </a:r>
            <a:r>
              <a:rPr lang="zh-TW" altLang="en-US" dirty="0"/>
              <a:t>大小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 fontAlgn="base">
              <a:buNone/>
            </a:pPr>
            <a:r>
              <a:rPr lang="zh-TW" altLang="en-US" dirty="0"/>
              <a:t> </a:t>
            </a:r>
          </a:p>
          <a:p>
            <a:pPr marL="514350" indent="-514350" fontAlgn="base">
              <a:buNone/>
            </a:pPr>
            <a:r>
              <a:rPr lang="en-US" altLang="zh-TW" dirty="0"/>
              <a:t>Info</a:t>
            </a:r>
            <a:r>
              <a:rPr lang="zh-TW" altLang="en-US" dirty="0"/>
              <a:t>：有關封包的其他訊息內容。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410601"/>
            <a:ext cx="7056784" cy="5447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>
          <a:xfrm>
            <a:off x="611560" y="548680"/>
            <a:ext cx="43396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TW" altLang="en-US" sz="3600" b="1" dirty="0">
                <a:solidFill>
                  <a:srgbClr val="000000"/>
                </a:solidFill>
                <a:latin typeface="新細明體" pitchFamily="18" charset="-120"/>
                <a:ea typeface="新細明體" pitchFamily="18" charset="-120"/>
              </a:rPr>
              <a:t>開啟後的使用者介面</a:t>
            </a:r>
            <a:endParaRPr lang="zh-TW" alt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827584" y="908720"/>
            <a:ext cx="655272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9875" fontAlgn="base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2400" dirty="0">
                <a:solidFill>
                  <a:srgbClr val="000000"/>
                </a:solidFill>
                <a:latin typeface="新細明體" pitchFamily="18" charset="-120"/>
                <a:ea typeface="新細明體" pitchFamily="18" charset="-120"/>
                <a:cs typeface="新細明體" pitchFamily="18" charset="-120"/>
              </a:rPr>
              <a:t>功能表列：提供</a:t>
            </a:r>
            <a:r>
              <a:rPr kumimoji="1" lang="zh-TW" altLang="zh-TW" sz="24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  <a:cs typeface="新細明體" pitchFamily="18" charset="-120"/>
              </a:rPr>
              <a:t>Wireshark</a:t>
            </a:r>
            <a:r>
              <a:rPr kumimoji="1" lang="zh-TW" altLang="en-US" sz="2400" dirty="0">
                <a:solidFill>
                  <a:srgbClr val="000000"/>
                </a:solidFill>
                <a:latin typeface="新細明體" pitchFamily="18" charset="-120"/>
                <a:ea typeface="新細明體" pitchFamily="18" charset="-120"/>
                <a:cs typeface="新細明體" pitchFamily="18" charset="-120"/>
              </a:rPr>
              <a:t>各項細部功能設定。</a:t>
            </a:r>
            <a:endParaRPr kumimoji="1" lang="zh-TW" altLang="en-US" sz="2400" dirty="0">
              <a:solidFill>
                <a:prstClr val="black"/>
              </a:solidFill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  <a:p>
            <a:pPr lvl="0" indent="26987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2400" dirty="0">
                <a:solidFill>
                  <a:srgbClr val="000000"/>
                </a:solidFill>
                <a:latin typeface="新細明體" pitchFamily="18" charset="-120"/>
                <a:ea typeface="新細明體" pitchFamily="18" charset="-120"/>
                <a:cs typeface="新細明體" pitchFamily="18" charset="-120"/>
              </a:rPr>
              <a:t>工具圖示：快速執行圖示。</a:t>
            </a:r>
            <a:endParaRPr kumimoji="1" lang="zh-TW" altLang="en-US" sz="2400" dirty="0">
              <a:solidFill>
                <a:prstClr val="black"/>
              </a:solidFill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  <a:p>
            <a:pPr lvl="0" indent="26987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zh-TW" sz="24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  <a:cs typeface="新細明體" pitchFamily="18" charset="-120"/>
              </a:rPr>
              <a:t>Filter</a:t>
            </a:r>
            <a:r>
              <a:rPr kumimoji="1" lang="zh-TW" altLang="zh-TW" sz="2400" dirty="0">
                <a:solidFill>
                  <a:srgbClr val="000000"/>
                </a:solidFill>
                <a:latin typeface="Arial"/>
                <a:ea typeface="新細明體" pitchFamily="18" charset="-120"/>
                <a:cs typeface="新細明體" pitchFamily="18" charset="-120"/>
              </a:rPr>
              <a:t> </a:t>
            </a:r>
            <a:r>
              <a:rPr kumimoji="1" lang="zh-TW" altLang="en-US" sz="2400" dirty="0">
                <a:solidFill>
                  <a:srgbClr val="000000"/>
                </a:solidFill>
                <a:latin typeface="新細明體" pitchFamily="18" charset="-120"/>
                <a:ea typeface="新細明體" pitchFamily="18" charset="-120"/>
                <a:cs typeface="新細明體" pitchFamily="18" charset="-120"/>
              </a:rPr>
              <a:t>工具列：提供封包過濾功能，可針對需要的封包資訊進行篩選</a:t>
            </a:r>
            <a:r>
              <a:rPr kumimoji="1" lang="zh-TW" altLang="en-US" sz="2400" dirty="0" smtClean="0">
                <a:solidFill>
                  <a:srgbClr val="000000"/>
                </a:solidFill>
                <a:latin typeface="新細明體" pitchFamily="18" charset="-120"/>
                <a:ea typeface="新細明體" pitchFamily="18" charset="-120"/>
                <a:cs typeface="新細明體" pitchFamily="18" charset="-120"/>
              </a:rPr>
              <a:t>。</a:t>
            </a:r>
            <a:endParaRPr kumimoji="1" lang="en-US" altLang="zh-TW" sz="2400" dirty="0" smtClean="0">
              <a:solidFill>
                <a:srgbClr val="000000"/>
              </a:solidFill>
              <a:latin typeface="新細明體" pitchFamily="18" charset="-120"/>
              <a:ea typeface="新細明體" pitchFamily="18" charset="-120"/>
              <a:cs typeface="新細明體" pitchFamily="18" charset="-120"/>
            </a:endParaRPr>
          </a:p>
          <a:p>
            <a:pPr lvl="0" indent="26987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zh-TW" sz="2400" dirty="0" smtClean="0">
                <a:solidFill>
                  <a:srgbClr val="000000"/>
                </a:solidFill>
                <a:latin typeface="Calibri" pitchFamily="34" charset="0"/>
                <a:ea typeface="inherit"/>
                <a:cs typeface="新細明體" pitchFamily="18" charset="-120"/>
              </a:rPr>
              <a:t>Capture :</a:t>
            </a:r>
            <a:r>
              <a:rPr kumimoji="1" lang="zh-TW" altLang="zh-TW" sz="2400" dirty="0" smtClean="0">
                <a:solidFill>
                  <a:srgbClr val="000000"/>
                </a:solidFill>
                <a:latin typeface="Arial"/>
                <a:ea typeface="inherit"/>
                <a:cs typeface="新細明體" pitchFamily="18" charset="-120"/>
              </a:rPr>
              <a:t> </a:t>
            </a:r>
            <a:r>
              <a:rPr kumimoji="1" lang="zh-TW" altLang="en-US" sz="2400" dirty="0" smtClean="0">
                <a:solidFill>
                  <a:srgbClr val="000000"/>
                </a:solidFill>
                <a:latin typeface="新細明體" pitchFamily="18" charset="-120"/>
                <a:ea typeface="新細明體" pitchFamily="18" charset="-120"/>
                <a:cs typeface="新細明體" pitchFamily="18" charset="-120"/>
              </a:rPr>
              <a:t>選擇電腦上的網卡，即開始進行封包擷取。</a:t>
            </a:r>
            <a:endParaRPr kumimoji="1" lang="zh-TW" altLang="en-US" sz="800" dirty="0">
              <a:solidFill>
                <a:prstClr val="black"/>
              </a:solidFill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  <a:p>
            <a:pPr lvl="0" indent="26987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2400" dirty="0" smtClean="0">
                <a:solidFill>
                  <a:srgbClr val="000000"/>
                </a:solidFill>
                <a:latin typeface="Arial"/>
                <a:ea typeface="inherit"/>
                <a:cs typeface="新細明體" pitchFamily="18" charset="-120"/>
              </a:rPr>
              <a:t> </a:t>
            </a:r>
            <a:endParaRPr kumimoji="1" lang="zh-TW" altLang="en-US" sz="2400" dirty="0">
              <a:solidFill>
                <a:prstClr val="black"/>
              </a:solidFill>
              <a:latin typeface="Arial" pitchFamily="34" charset="0"/>
              <a:ea typeface="inherit"/>
              <a:cs typeface="新細明體" pitchFamily="18" charset="-120"/>
            </a:endParaRPr>
          </a:p>
          <a:p>
            <a:pPr lvl="0" indent="26987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zh-TW" sz="2400" dirty="0" smtClean="0">
                <a:solidFill>
                  <a:srgbClr val="000000"/>
                </a:solidFill>
                <a:latin typeface="Calibri" pitchFamily="34" charset="0"/>
                <a:ea typeface="inherit"/>
                <a:cs typeface="新細明體" pitchFamily="18" charset="-120"/>
              </a:rPr>
              <a:t>Capture Options</a:t>
            </a:r>
            <a:r>
              <a:rPr kumimoji="1" lang="zh-TW" altLang="en-US" sz="2400" dirty="0" smtClean="0">
                <a:solidFill>
                  <a:srgbClr val="000000"/>
                </a:solidFill>
                <a:latin typeface="新細明體" pitchFamily="18" charset="-120"/>
                <a:ea typeface="新細明體" pitchFamily="18" charset="-120"/>
                <a:cs typeface="新細明體" pitchFamily="18" charset="-120"/>
              </a:rPr>
              <a:t>：設定過濾條件。</a:t>
            </a:r>
            <a:endParaRPr kumimoji="1" lang="zh-TW" altLang="en-US" sz="800" dirty="0">
              <a:solidFill>
                <a:prstClr val="black"/>
              </a:solidFill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  <a:p>
            <a:pPr lvl="0" indent="26987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2400" dirty="0" smtClean="0">
                <a:solidFill>
                  <a:srgbClr val="000000"/>
                </a:solidFill>
                <a:latin typeface="Arial"/>
                <a:ea typeface="inherit"/>
                <a:cs typeface="新細明體" pitchFamily="18" charset="-120"/>
              </a:rPr>
              <a:t> </a:t>
            </a:r>
            <a:endParaRPr kumimoji="1" lang="zh-TW" altLang="en-US" sz="2400" dirty="0">
              <a:solidFill>
                <a:prstClr val="black"/>
              </a:solidFill>
              <a:latin typeface="Arial" pitchFamily="34" charset="0"/>
              <a:ea typeface="inherit"/>
              <a:cs typeface="新細明體" pitchFamily="18" charset="-120"/>
            </a:endParaRPr>
          </a:p>
          <a:p>
            <a:pPr lvl="0" indent="26987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zh-TW" sz="2400" dirty="0" smtClean="0">
                <a:solidFill>
                  <a:srgbClr val="000000"/>
                </a:solidFill>
                <a:latin typeface="Calibri" pitchFamily="34" charset="0"/>
                <a:ea typeface="inherit"/>
                <a:cs typeface="新細明體" pitchFamily="18" charset="-120"/>
              </a:rPr>
              <a:t>Open</a:t>
            </a:r>
            <a:r>
              <a:rPr kumimoji="1" lang="zh-TW" altLang="en-US" sz="2400" dirty="0" smtClean="0">
                <a:solidFill>
                  <a:srgbClr val="000000"/>
                </a:solidFill>
                <a:latin typeface="新細明體" pitchFamily="18" charset="-120"/>
                <a:ea typeface="新細明體" pitchFamily="18" charset="-120"/>
                <a:cs typeface="新細明體" pitchFamily="18" charset="-120"/>
              </a:rPr>
              <a:t>：開啟已擷取封包的檔案。</a:t>
            </a:r>
            <a:endParaRPr kumimoji="1" lang="zh-TW" altLang="en-US" sz="800" dirty="0">
              <a:solidFill>
                <a:prstClr val="black"/>
              </a:solidFill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  <a:p>
            <a:pPr lvl="0" indent="269875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altLang="zh-TW" sz="2400" dirty="0" smtClean="0">
              <a:solidFill>
                <a:srgbClr val="000000"/>
              </a:solidFill>
              <a:latin typeface="新細明體" pitchFamily="18" charset="-120"/>
              <a:ea typeface="新細明體" pitchFamily="18" charset="-120"/>
              <a:cs typeface="新細明體" pitchFamily="18" charset="-120"/>
            </a:endParaRPr>
          </a:p>
          <a:p>
            <a:pPr lvl="0" indent="269875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altLang="zh-TW" sz="2400" dirty="0">
              <a:solidFill>
                <a:srgbClr val="000000"/>
              </a:solidFill>
              <a:latin typeface="新細明體" pitchFamily="18" charset="-120"/>
              <a:ea typeface="新細明體" pitchFamily="18" charset="-120"/>
              <a:cs typeface="新細明體" pitchFamily="18" charset="-120"/>
            </a:endParaRPr>
          </a:p>
          <a:p>
            <a:pPr lvl="0" indent="269875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TW" altLang="en-US" sz="2400" dirty="0">
              <a:solidFill>
                <a:prstClr val="black"/>
              </a:solidFill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9552" y="3356992"/>
            <a:ext cx="7200800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9875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TW" altLang="en-US" sz="600" dirty="0">
              <a:solidFill>
                <a:prstClr val="black"/>
              </a:solidFill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" y="1741011"/>
            <a:ext cx="7482840" cy="424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21"/>
          <p:cNvGrpSpPr/>
          <p:nvPr/>
        </p:nvGrpSpPr>
        <p:grpSpPr>
          <a:xfrm>
            <a:off x="2342806" y="3039737"/>
            <a:ext cx="1014791" cy="830997"/>
            <a:chOff x="2485065" y="3104964"/>
            <a:chExt cx="1014791" cy="830997"/>
          </a:xfrm>
        </p:grpSpPr>
        <p:sp>
          <p:nvSpPr>
            <p:cNvPr id="12" name="矩形 11"/>
            <p:cNvSpPr/>
            <p:nvPr/>
          </p:nvSpPr>
          <p:spPr>
            <a:xfrm>
              <a:off x="2485065" y="3104964"/>
              <a:ext cx="1014791" cy="83099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2493253" y="3104964"/>
              <a:ext cx="99841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400" dirty="0" smtClean="0"/>
                <a:t>Packet</a:t>
              </a:r>
            </a:p>
            <a:p>
              <a:pPr algn="ctr"/>
              <a:r>
                <a:rPr lang="zh-TW" altLang="en-US" sz="2400" dirty="0">
                  <a:latin typeface="微軟正黑體" pitchFamily="34" charset="-120"/>
                  <a:ea typeface="微軟正黑體" pitchFamily="34" charset="-120"/>
                </a:rPr>
                <a:t>封包</a:t>
              </a:r>
            </a:p>
          </p:txBody>
        </p:sp>
      </p:grpSp>
      <p:grpSp>
        <p:nvGrpSpPr>
          <p:cNvPr id="3" name="群組 23"/>
          <p:cNvGrpSpPr/>
          <p:nvPr/>
        </p:nvGrpSpPr>
        <p:grpSpPr>
          <a:xfrm>
            <a:off x="3789857" y="3039737"/>
            <a:ext cx="1141723" cy="830997"/>
            <a:chOff x="3993389" y="2861210"/>
            <a:chExt cx="1141723" cy="830997"/>
          </a:xfrm>
        </p:grpSpPr>
        <p:sp>
          <p:nvSpPr>
            <p:cNvPr id="19" name="矩形 18"/>
            <p:cNvSpPr/>
            <p:nvPr/>
          </p:nvSpPr>
          <p:spPr>
            <a:xfrm>
              <a:off x="4054805" y="2861210"/>
              <a:ext cx="1018891" cy="8309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3993389" y="2861210"/>
              <a:ext cx="11417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400" dirty="0" smtClean="0"/>
                <a:t>capture</a:t>
              </a:r>
            </a:p>
            <a:p>
              <a:pPr algn="ctr"/>
              <a:r>
                <a:rPr lang="zh-TW" altLang="en-US" sz="2400" dirty="0">
                  <a:latin typeface="微軟正黑體" pitchFamily="34" charset="-120"/>
                  <a:ea typeface="微軟正黑體" pitchFamily="34" charset="-120"/>
                </a:rPr>
                <a:t>捕捉</a:t>
              </a:r>
            </a:p>
          </p:txBody>
        </p:sp>
      </p:grpSp>
      <p:grpSp>
        <p:nvGrpSpPr>
          <p:cNvPr id="5" name="群組 22"/>
          <p:cNvGrpSpPr/>
          <p:nvPr/>
        </p:nvGrpSpPr>
        <p:grpSpPr>
          <a:xfrm>
            <a:off x="5230017" y="3039736"/>
            <a:ext cx="2192139" cy="830997"/>
            <a:chOff x="5415621" y="2977498"/>
            <a:chExt cx="2192139" cy="830997"/>
          </a:xfrm>
        </p:grpSpPr>
        <p:sp>
          <p:nvSpPr>
            <p:cNvPr id="20" name="矩形 19"/>
            <p:cNvSpPr/>
            <p:nvPr/>
          </p:nvSpPr>
          <p:spPr>
            <a:xfrm>
              <a:off x="5431570" y="2996952"/>
              <a:ext cx="2160240" cy="7920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5415621" y="2977498"/>
              <a:ext cx="219213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400" dirty="0" smtClean="0"/>
                <a:t>Next generation</a:t>
              </a:r>
            </a:p>
            <a:p>
              <a:pPr algn="ctr"/>
              <a:r>
                <a:rPr lang="zh-TW" altLang="en-US" sz="2400" dirty="0" smtClean="0">
                  <a:latin typeface="微軟正黑體" pitchFamily="34" charset="-120"/>
                  <a:ea typeface="微軟正黑體" pitchFamily="34" charset="-120"/>
                </a:rPr>
                <a:t>下一世代</a:t>
              </a:r>
              <a:endParaRPr lang="zh-TW" altLang="en-US" sz="2400" dirty="0"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cxnSp>
        <p:nvCxnSpPr>
          <p:cNvPr id="26" name="直線單箭頭接點 25"/>
          <p:cNvCxnSpPr/>
          <p:nvPr/>
        </p:nvCxnSpPr>
        <p:spPr>
          <a:xfrm flipH="1">
            <a:off x="2955679" y="2624717"/>
            <a:ext cx="972644" cy="415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stCxn id="17" idx="2"/>
            <a:endCxn id="7" idx="0"/>
          </p:cNvCxnSpPr>
          <p:nvPr/>
        </p:nvCxnSpPr>
        <p:spPr>
          <a:xfrm flipH="1">
            <a:off x="4360719" y="2614266"/>
            <a:ext cx="98205" cy="4254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endCxn id="8" idx="0"/>
          </p:cNvCxnSpPr>
          <p:nvPr/>
        </p:nvCxnSpPr>
        <p:spPr>
          <a:xfrm>
            <a:off x="5245966" y="2624717"/>
            <a:ext cx="1080121" cy="4150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9" name="群組 32"/>
          <p:cNvGrpSpPr/>
          <p:nvPr/>
        </p:nvGrpSpPr>
        <p:grpSpPr>
          <a:xfrm>
            <a:off x="2998577" y="1929026"/>
            <a:ext cx="2490362" cy="707886"/>
            <a:chOff x="2969834" y="1640994"/>
            <a:chExt cx="2490362" cy="707886"/>
          </a:xfrm>
        </p:grpSpPr>
        <p:grpSp>
          <p:nvGrpSpPr>
            <p:cNvPr id="10" name="群組 20"/>
            <p:cNvGrpSpPr/>
            <p:nvPr/>
          </p:nvGrpSpPr>
          <p:grpSpPr>
            <a:xfrm>
              <a:off x="3789857" y="1783268"/>
              <a:ext cx="1584175" cy="542966"/>
              <a:chOff x="3923928" y="742823"/>
              <a:chExt cx="1584175" cy="542966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3923928" y="742824"/>
                <a:ext cx="276932" cy="54296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4196464" y="742824"/>
                <a:ext cx="735575" cy="5429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4932038" y="742823"/>
                <a:ext cx="576065" cy="5429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" name="文字方塊 3"/>
            <p:cNvSpPr txBox="1"/>
            <p:nvPr/>
          </p:nvSpPr>
          <p:spPr>
            <a:xfrm>
              <a:off x="2969834" y="1640994"/>
              <a:ext cx="249036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dirty="0" err="1" smtClean="0"/>
                <a:t>xxx.pcapng</a:t>
              </a:r>
              <a:endParaRPr lang="zh-TW" altLang="en-US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674307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功能實測</a:t>
            </a:r>
            <a:r>
              <a:rPr lang="en-US" altLang="zh-TW" dirty="0" smtClean="0"/>
              <a:t>:</a:t>
            </a:r>
            <a:r>
              <a:rPr lang="zh-TW" altLang="en-US" dirty="0" smtClean="0"/>
              <a:t>過濾出</a:t>
            </a:r>
            <a:r>
              <a:rPr lang="en-US" altLang="zh-TW" dirty="0" smtClean="0"/>
              <a:t>DNS</a:t>
            </a:r>
            <a:r>
              <a:rPr lang="zh-TW" altLang="en-US" dirty="0" smtClean="0"/>
              <a:t>封包</a:t>
            </a:r>
            <a:endParaRPr lang="zh-TW" altLang="en-US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功能實測</a:t>
            </a:r>
            <a:r>
              <a:rPr lang="en-US" altLang="zh-TW" dirty="0" smtClean="0"/>
              <a:t>:</a:t>
            </a:r>
            <a:r>
              <a:rPr lang="zh-TW" altLang="en-US" dirty="0" smtClean="0"/>
              <a:t>過濾出</a:t>
            </a:r>
            <a:r>
              <a:rPr lang="en-US" altLang="zh-TW" dirty="0" smtClean="0"/>
              <a:t>HTTP</a:t>
            </a:r>
            <a:r>
              <a:rPr lang="zh-TW" altLang="en-US" dirty="0" smtClean="0"/>
              <a:t>封包</a:t>
            </a:r>
            <a:endParaRPr lang="zh-TW" altLang="en-US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功能實測</a:t>
            </a:r>
            <a:r>
              <a:rPr lang="en-US" altLang="zh-TW" dirty="0" smtClean="0"/>
              <a:t>:</a:t>
            </a:r>
            <a:r>
              <a:rPr lang="zh-TW" altLang="en-US" dirty="0" smtClean="0"/>
              <a:t>過濾出</a:t>
            </a:r>
            <a:r>
              <a:rPr lang="en-US" altLang="zh-TW" dirty="0" smtClean="0"/>
              <a:t>TCP</a:t>
            </a:r>
            <a:r>
              <a:rPr lang="zh-TW" altLang="en-US" dirty="0" smtClean="0"/>
              <a:t>封包</a:t>
            </a:r>
            <a:endParaRPr lang="zh-TW" altLang="en-US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Follow </a:t>
            </a:r>
            <a:r>
              <a:rPr lang="en-US" altLang="zh-TW" smtClean="0"/>
              <a:t>TCP/UDP stream</a:t>
            </a:r>
            <a:br>
              <a:rPr lang="en-US" altLang="zh-TW" smtClean="0"/>
            </a:br>
            <a:r>
              <a:rPr lang="en-US" altLang="zh-TW" smtClean="0"/>
              <a:t>NO.20</a:t>
            </a:r>
            <a:endParaRPr lang="zh-TW" altLang="en-US" dirty="0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326</Words>
  <Application>Microsoft Office PowerPoint</Application>
  <PresentationFormat>如螢幕大小 (4:3)</PresentationFormat>
  <Paragraphs>80</Paragraphs>
  <Slides>34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5" baseType="lpstr">
      <vt:lpstr>Office 佈景主題</vt:lpstr>
      <vt:lpstr>Wireshark實測</vt:lpstr>
      <vt:lpstr>投影片 2</vt:lpstr>
      <vt:lpstr>投影片 3</vt:lpstr>
      <vt:lpstr>投影片 4</vt:lpstr>
      <vt:lpstr>3. Wireshark封包實測</vt:lpstr>
      <vt:lpstr>投影片 6</vt:lpstr>
      <vt:lpstr>投影片 7</vt:lpstr>
      <vt:lpstr>Capture filter:選擇要傾聽的網卡介面</vt:lpstr>
      <vt:lpstr>投影片 9</vt:lpstr>
      <vt:lpstr>投影片 10</vt:lpstr>
      <vt:lpstr>另存新檔</vt:lpstr>
      <vt:lpstr>選擇存放的目錄位置 然後按下存檔 即可完成存檔</vt:lpstr>
      <vt:lpstr>投影片 13</vt:lpstr>
      <vt:lpstr>投影片 14</vt:lpstr>
      <vt:lpstr>投影片 15</vt:lpstr>
      <vt:lpstr>選擇要開啟的檔案</vt:lpstr>
      <vt:lpstr>開啟後的檔案</vt:lpstr>
      <vt:lpstr>投影片 18</vt:lpstr>
      <vt:lpstr>不OK</vt:lpstr>
      <vt:lpstr>OK</vt:lpstr>
      <vt:lpstr>3.3. Wireshark操作介面</vt:lpstr>
      <vt:lpstr>封包列表窗格 (Packet List pane)</vt:lpstr>
      <vt:lpstr>封包列表窗格 (Packet List pane)</vt:lpstr>
      <vt:lpstr>投影片 24</vt:lpstr>
      <vt:lpstr>投影片 25</vt:lpstr>
      <vt:lpstr>投影片 26</vt:lpstr>
      <vt:lpstr>投影片 27</vt:lpstr>
      <vt:lpstr>投影片 28</vt:lpstr>
      <vt:lpstr>投影片 29</vt:lpstr>
      <vt:lpstr>功能實測:過濾出DNS封包</vt:lpstr>
      <vt:lpstr>投影片 31</vt:lpstr>
      <vt:lpstr>功能實測:過濾出HTTP封包</vt:lpstr>
      <vt:lpstr>功能實測:過濾出TCP封包</vt:lpstr>
      <vt:lpstr>Follow TCP/UDP stream NO.20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Wireshark實測</dc:title>
  <dc:creator>USER</dc:creator>
  <cp:lastModifiedBy>USER</cp:lastModifiedBy>
  <cp:revision>10</cp:revision>
  <dcterms:created xsi:type="dcterms:W3CDTF">2019-05-14T05:58:34Z</dcterms:created>
  <dcterms:modified xsi:type="dcterms:W3CDTF">2019-05-14T07:15:59Z</dcterms:modified>
</cp:coreProperties>
</file>