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5" r:id="rId6"/>
    <p:sldId id="266" r:id="rId7"/>
    <p:sldId id="268" r:id="rId8"/>
    <p:sldId id="267" r:id="rId9"/>
    <p:sldId id="269" r:id="rId10"/>
    <p:sldId id="270" r:id="rId11"/>
    <p:sldId id="271" r:id="rId12"/>
    <p:sldId id="260" r:id="rId13"/>
    <p:sldId id="261" r:id="rId14"/>
    <p:sldId id="262" r:id="rId15"/>
    <p:sldId id="263" r:id="rId16"/>
    <p:sldId id="264" r:id="rId17"/>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4" d="100"/>
          <a:sy n="84" d="100"/>
        </p:scale>
        <p:origin x="-1402" y="-77"/>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2EFC159F-601A-4B2E-90A8-61D0F237D3FF}" type="datetimeFigureOut">
              <a:rPr lang="zh-TW" altLang="en-US" smtClean="0"/>
              <a:t>2019/4/23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54825975-6B42-4226-88E3-C36EA5043322}" type="slidenum">
              <a:rPr lang="zh-TW" altLang="en-US" smtClean="0"/>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2EFC159F-601A-4B2E-90A8-61D0F237D3FF}" type="datetimeFigureOut">
              <a:rPr lang="zh-TW" altLang="en-US" smtClean="0"/>
              <a:t>2019/4/23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54825975-6B42-4226-88E3-C36EA5043322}" type="slidenum">
              <a:rPr lang="zh-TW" altLang="en-US" smtClean="0"/>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2EFC159F-601A-4B2E-90A8-61D0F237D3FF}" type="datetimeFigureOut">
              <a:rPr lang="zh-TW" altLang="en-US" smtClean="0"/>
              <a:t>2019/4/23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54825975-6B42-4226-88E3-C36EA5043322}" type="slidenum">
              <a:rPr lang="zh-TW" altLang="en-US" smtClean="0"/>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2EFC159F-601A-4B2E-90A8-61D0F237D3FF}" type="datetimeFigureOut">
              <a:rPr lang="zh-TW" altLang="en-US" smtClean="0"/>
              <a:t>2019/4/23</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54825975-6B42-4226-88E3-C36EA5043322}" type="slidenum">
              <a:rPr lang="zh-TW" altLang="en-US" smtClean="0"/>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2EFC159F-601A-4B2E-90A8-61D0F237D3FF}" type="datetimeFigureOut">
              <a:rPr lang="zh-TW" altLang="en-US" smtClean="0"/>
              <a:t>2019/4/23</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54825975-6B42-4226-88E3-C36EA5043322}" type="slidenum">
              <a:rPr lang="zh-TW" altLang="en-US" smtClean="0"/>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2EFC159F-601A-4B2E-90A8-61D0F237D3FF}" type="datetimeFigureOut">
              <a:rPr lang="zh-TW" altLang="en-US" smtClean="0"/>
              <a:t>2019/4/23</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54825975-6B42-4226-88E3-C36EA5043322}" type="slidenum">
              <a:rPr lang="zh-TW" altLang="en-US" smtClean="0"/>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2EFC159F-601A-4B2E-90A8-61D0F237D3FF}" type="datetimeFigureOut">
              <a:rPr lang="zh-TW" altLang="en-US" smtClean="0"/>
              <a:t>2019/4/23</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54825975-6B42-4226-88E3-C36EA5043322}" type="slidenum">
              <a:rPr lang="zh-TW" altLang="en-US" smtClean="0"/>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2EFC159F-601A-4B2E-90A8-61D0F237D3FF}" type="datetimeFigureOut">
              <a:rPr lang="zh-TW" altLang="en-US" smtClean="0"/>
              <a:t>2019/4/23</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54825975-6B42-4226-88E3-C36EA5043322}" type="slidenum">
              <a:rPr lang="zh-TW" altLang="en-US" smtClean="0"/>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2EFC159F-601A-4B2E-90A8-61D0F237D3FF}" type="datetimeFigureOut">
              <a:rPr lang="zh-TW" altLang="en-US" smtClean="0"/>
              <a:t>2019/4/23</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54825975-6B42-4226-88E3-C36EA5043322}" type="slidenum">
              <a:rPr lang="zh-TW" altLang="en-US" smtClean="0"/>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2EFC159F-601A-4B2E-90A8-61D0F237D3FF}" type="datetimeFigureOut">
              <a:rPr lang="zh-TW" altLang="en-US" smtClean="0"/>
              <a:t>2019/4/23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54825975-6B42-4226-88E3-C36EA5043322}" type="slidenum">
              <a:rPr lang="zh-TW" altLang="en-US" smtClean="0"/>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2EFC159F-601A-4B2E-90A8-61D0F237D3FF}" type="datetimeFigureOut">
              <a:rPr lang="zh-TW" altLang="en-US" smtClean="0"/>
              <a:t>2019/4/23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54825975-6B42-4226-88E3-C36EA5043322}" type="slidenum">
              <a:rPr lang="zh-TW" altLang="en-US" smtClean="0"/>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FC159F-601A-4B2E-90A8-61D0F237D3FF}" type="datetimeFigureOut">
              <a:rPr lang="zh-TW" altLang="en-US" smtClean="0"/>
              <a:t>2019/4/23</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4825975-6B42-4226-88E3-C36EA5043322}" type="slidenum">
              <a:rPr lang="zh-TW" altLang="en-US" smtClean="0"/>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fadec0d3.blogspot.tw/2017/02/alexctf-2017-crypto.html"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github.com/USCGA/writeups/tree/master/online_ctfs/qiwi_infosec_ctf_2016/crypto_100_3_COMPLETE"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564904"/>
            <a:ext cx="7772400" cy="1035546"/>
          </a:xfrm>
        </p:spPr>
        <p:txBody>
          <a:bodyPr/>
          <a:lstStyle/>
          <a:p>
            <a:r>
              <a:rPr lang="en-US" altLang="zh-TW" dirty="0" smtClean="0"/>
              <a:t>Python</a:t>
            </a:r>
            <a:r>
              <a:rPr lang="zh-TW" altLang="en-US" dirty="0" smtClean="0"/>
              <a:t>程式與資訊安全</a:t>
            </a:r>
            <a:endParaRPr lang="zh-TW" altLang="en-US" dirty="0"/>
          </a:p>
        </p:txBody>
      </p:sp>
      <p:sp>
        <p:nvSpPr>
          <p:cNvPr id="3" name="副標題 2"/>
          <p:cNvSpPr>
            <a:spLocks noGrp="1"/>
          </p:cNvSpPr>
          <p:nvPr>
            <p:ph type="subTitle" idx="1"/>
          </p:nvPr>
        </p:nvSpPr>
        <p:spPr/>
        <p:txBody>
          <a:bodyPr>
            <a:normAutofit/>
          </a:bodyPr>
          <a:lstStyle/>
          <a:p>
            <a:r>
              <a:rPr lang="zh-TW" altLang="en-US" sz="2400" dirty="0" smtClean="0"/>
              <a:t>使用</a:t>
            </a:r>
            <a:r>
              <a:rPr lang="en-US" altLang="zh-TW" sz="2400" dirty="0" smtClean="0"/>
              <a:t>Python</a:t>
            </a:r>
            <a:r>
              <a:rPr lang="zh-TW" altLang="en-US" sz="2400" dirty="0" smtClean="0"/>
              <a:t>求解</a:t>
            </a:r>
            <a:r>
              <a:rPr lang="en-US" altLang="zh-TW" sz="2400" dirty="0" smtClean="0"/>
              <a:t>CTF</a:t>
            </a:r>
            <a:r>
              <a:rPr lang="zh-TW" altLang="en-US" sz="2400" dirty="0" smtClean="0"/>
              <a:t>實戰課</a:t>
            </a:r>
            <a:endParaRPr lang="zh-TW" altLang="en-US" sz="2400" dirty="0"/>
          </a:p>
        </p:txBody>
      </p:sp>
      <p:sp>
        <p:nvSpPr>
          <p:cNvPr id="5" name="矩形 4"/>
          <p:cNvSpPr/>
          <p:nvPr/>
        </p:nvSpPr>
        <p:spPr>
          <a:xfrm>
            <a:off x="611560" y="1988840"/>
            <a:ext cx="5544616" cy="461665"/>
          </a:xfrm>
          <a:prstGeom prst="rect">
            <a:avLst/>
          </a:prstGeom>
        </p:spPr>
        <p:txBody>
          <a:bodyPr wrap="square">
            <a:spAutoFit/>
          </a:bodyPr>
          <a:lstStyle/>
          <a:p>
            <a:pPr lvl="0" algn="ctr">
              <a:spcBef>
                <a:spcPct val="20000"/>
              </a:spcBef>
            </a:pPr>
            <a:r>
              <a:rPr lang="en-US" altLang="zh-TW" sz="2400" b="1" dirty="0" smtClean="0">
                <a:solidFill>
                  <a:srgbClr val="FF0000"/>
                </a:solidFill>
                <a:effectLst>
                  <a:outerShdw blurRad="38100" dist="38100" dir="2700000" algn="tl">
                    <a:srgbClr val="000000">
                      <a:alpha val="43137"/>
                    </a:srgbClr>
                  </a:outerShdw>
                </a:effectLst>
              </a:rPr>
              <a:t>Python-CTF:</a:t>
            </a:r>
            <a:r>
              <a:rPr lang="zh-TW" altLang="en-US" sz="2400" b="1" dirty="0" smtClean="0">
                <a:solidFill>
                  <a:srgbClr val="FF0000"/>
                </a:solidFill>
                <a:effectLst>
                  <a:outerShdw blurRad="38100" dist="38100" dir="2700000" algn="tl">
                    <a:srgbClr val="000000">
                      <a:alpha val="43137"/>
                    </a:srgbClr>
                  </a:outerShdw>
                </a:effectLst>
              </a:rPr>
              <a:t> </a:t>
            </a:r>
            <a:r>
              <a:rPr lang="zh-TW" altLang="en-US" sz="2400" b="1" dirty="0" smtClean="0">
                <a:solidFill>
                  <a:srgbClr val="FF0000"/>
                </a:solidFill>
                <a:effectLst>
                  <a:outerShdw blurRad="38100" dist="38100" dir="2700000" algn="tl">
                    <a:srgbClr val="000000">
                      <a:alpha val="43137"/>
                    </a:srgbClr>
                  </a:outerShdw>
                </a:effectLst>
              </a:rPr>
              <a:t>實戰</a:t>
            </a:r>
            <a:r>
              <a:rPr lang="en-US" altLang="zh-TW" sz="2400" b="1" dirty="0" smtClean="0">
                <a:solidFill>
                  <a:srgbClr val="FF0000"/>
                </a:solidFill>
                <a:effectLst>
                  <a:outerShdw blurRad="38100" dist="38100" dir="2700000" algn="tl">
                    <a:srgbClr val="000000">
                      <a:alpha val="43137"/>
                    </a:srgbClr>
                  </a:outerShdw>
                </a:effectLst>
              </a:rPr>
              <a:t>Python</a:t>
            </a:r>
            <a:r>
              <a:rPr lang="zh-TW" altLang="en-US" sz="2400" b="1" dirty="0" smtClean="0">
                <a:solidFill>
                  <a:srgbClr val="FF0000"/>
                </a:solidFill>
                <a:effectLst>
                  <a:outerShdw blurRad="38100" dist="38100" dir="2700000" algn="tl">
                    <a:srgbClr val="000000">
                      <a:alpha val="43137"/>
                    </a:srgbClr>
                  </a:outerShdw>
                </a:effectLst>
              </a:rPr>
              <a:t> 求解</a:t>
            </a:r>
            <a:r>
              <a:rPr lang="en-US" altLang="zh-TW" sz="2400" b="1" dirty="0" smtClean="0">
                <a:solidFill>
                  <a:srgbClr val="FF0000"/>
                </a:solidFill>
                <a:effectLst>
                  <a:outerShdw blurRad="38100" dist="38100" dir="2700000" algn="tl">
                    <a:srgbClr val="000000">
                      <a:alpha val="43137"/>
                    </a:srgbClr>
                  </a:outerShdw>
                </a:effectLst>
              </a:rPr>
              <a:t>CTF</a:t>
            </a:r>
            <a:endParaRPr lang="zh-TW" altLang="en-US" sz="2400" b="1" dirty="0">
              <a:solidFill>
                <a:srgbClr val="FF0000"/>
              </a:solidFill>
              <a:effectLst>
                <a:outerShdw blurRad="38100" dist="38100" dir="2700000" algn="tl">
                  <a:srgbClr val="000000">
                    <a:alpha val="43137"/>
                  </a:srgbClr>
                </a:outerShdw>
              </a:effectLst>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zh-TW" altLang="en-US" dirty="0" smtClean="0"/>
              <a:t>願景</a:t>
            </a:r>
            <a:r>
              <a:rPr lang="en-US" altLang="zh-TW" dirty="0" smtClean="0"/>
              <a:t>:</a:t>
            </a:r>
            <a:r>
              <a:rPr lang="zh-TW" altLang="en-US" dirty="0" smtClean="0"/>
              <a:t>學</a:t>
            </a:r>
            <a:r>
              <a:rPr lang="en-US" altLang="zh-TW" dirty="0" smtClean="0"/>
              <a:t>Python</a:t>
            </a:r>
            <a:r>
              <a:rPr lang="zh-TW" altLang="en-US" dirty="0" smtClean="0"/>
              <a:t>可以做什麼</a:t>
            </a:r>
            <a:r>
              <a:rPr lang="en-US" altLang="zh-TW" dirty="0" smtClean="0"/>
              <a:t>?</a:t>
            </a:r>
            <a:endParaRPr lang="zh-TW" altLang="en-US" dirty="0"/>
          </a:p>
        </p:txBody>
      </p:sp>
      <p:sp>
        <p:nvSpPr>
          <p:cNvPr id="3" name="內容版面配置區 2"/>
          <p:cNvSpPr>
            <a:spLocks noGrp="1"/>
          </p:cNvSpPr>
          <p:nvPr>
            <p:ph idx="1"/>
          </p:nvPr>
        </p:nvSpPr>
        <p:spPr/>
        <p:txBody>
          <a:bodyPr/>
          <a:lstStyle/>
          <a:p>
            <a:endParaRPr lang="zh-TW" alt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pPr algn="l"/>
            <a:r>
              <a:rPr lang="zh-TW" altLang="en-US" dirty="0" smtClean="0"/>
              <a:t>課程目標</a:t>
            </a:r>
            <a:r>
              <a:rPr lang="en-US" altLang="zh-TW" dirty="0" smtClean="0"/>
              <a:t>:</a:t>
            </a:r>
            <a:r>
              <a:rPr lang="zh-TW" altLang="en-US" sz="2700" b="1" dirty="0" smtClean="0">
                <a:effectLst>
                  <a:outerShdw blurRad="38100" dist="38100" dir="2700000" algn="tl">
                    <a:srgbClr val="000000">
                      <a:alpha val="43137"/>
                    </a:srgbClr>
                  </a:outerShdw>
                </a:effectLst>
              </a:rPr>
              <a:t>本課程在一天短短時間內讓你</a:t>
            </a:r>
            <a:endParaRPr lang="zh-TW" altLang="en-US" sz="2700" b="1" dirty="0">
              <a:effectLst>
                <a:outerShdw blurRad="38100" dist="38100" dir="2700000" algn="tl">
                  <a:srgbClr val="000000">
                    <a:alpha val="43137"/>
                  </a:srgbClr>
                </a:outerShdw>
              </a:effectLst>
            </a:endParaRPr>
          </a:p>
        </p:txBody>
      </p:sp>
      <p:sp>
        <p:nvSpPr>
          <p:cNvPr id="3" name="內容版面配置區 2"/>
          <p:cNvSpPr>
            <a:spLocks noGrp="1"/>
          </p:cNvSpPr>
          <p:nvPr>
            <p:ph idx="1"/>
          </p:nvPr>
        </p:nvSpPr>
        <p:spPr/>
        <p:txBody>
          <a:bodyPr/>
          <a:lstStyle/>
          <a:p>
            <a:endParaRPr lang="zh-TW" alt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一日上手快速入門</a:t>
            </a:r>
            <a:endParaRPr lang="zh-TW" altLang="en-US" dirty="0"/>
          </a:p>
        </p:txBody>
      </p:sp>
      <p:graphicFrame>
        <p:nvGraphicFramePr>
          <p:cNvPr id="4" name="內容版面配置區 3"/>
          <p:cNvGraphicFramePr>
            <a:graphicFrameLocks noGrp="1"/>
          </p:cNvGraphicFramePr>
          <p:nvPr>
            <p:ph idx="1"/>
          </p:nvPr>
        </p:nvGraphicFramePr>
        <p:xfrm>
          <a:off x="395536" y="1412776"/>
          <a:ext cx="8229600" cy="2494280"/>
        </p:xfrm>
        <a:graphic>
          <a:graphicData uri="http://schemas.openxmlformats.org/drawingml/2006/table">
            <a:tbl>
              <a:tblPr firstRow="1" bandRow="1">
                <a:tableStyleId>{5C22544A-7EE6-4342-B048-85BDC9FD1C3A}</a:tableStyleId>
              </a:tblPr>
              <a:tblGrid>
                <a:gridCol w="1162472"/>
                <a:gridCol w="4323928"/>
                <a:gridCol w="2743200"/>
              </a:tblGrid>
              <a:tr h="370840">
                <a:tc>
                  <a:txBody>
                    <a:bodyPr/>
                    <a:lstStyle/>
                    <a:p>
                      <a:r>
                        <a:rPr lang="zh-TW" altLang="en-US" dirty="0" smtClean="0"/>
                        <a:t>深耕營</a:t>
                      </a:r>
                      <a:endParaRPr lang="zh-TW" altLang="en-US" dirty="0"/>
                    </a:p>
                  </a:txBody>
                  <a:tcPr/>
                </a:tc>
                <a:tc>
                  <a:txBody>
                    <a:bodyPr/>
                    <a:lstStyle/>
                    <a:p>
                      <a:endParaRPr lang="zh-TW" altLang="en-US" dirty="0"/>
                    </a:p>
                  </a:txBody>
                  <a:tcPr/>
                </a:tc>
                <a:tc>
                  <a:txBody>
                    <a:bodyPr/>
                    <a:lstStyle/>
                    <a:p>
                      <a:endParaRPr lang="zh-TW" altLang="en-US"/>
                    </a:p>
                  </a:txBody>
                  <a:tcPr/>
                </a:tc>
              </a:tr>
              <a:tr h="370840">
                <a:tc>
                  <a:txBody>
                    <a:bodyPr/>
                    <a:lstStyle/>
                    <a:p>
                      <a:r>
                        <a:rPr lang="zh-TW" altLang="en-US" dirty="0" smtClean="0"/>
                        <a:t>早上</a:t>
                      </a:r>
                      <a:endParaRPr lang="zh-TW" altLang="en-US" dirty="0"/>
                    </a:p>
                  </a:txBody>
                  <a:tcPr/>
                </a:tc>
                <a:tc>
                  <a:txBody>
                    <a:bodyPr/>
                    <a:lstStyle/>
                    <a:p>
                      <a:r>
                        <a:rPr lang="en-US" altLang="zh-TW" dirty="0" smtClean="0"/>
                        <a:t>Python</a:t>
                      </a:r>
                      <a:r>
                        <a:rPr lang="zh-TW" altLang="en-US" dirty="0" smtClean="0"/>
                        <a:t>程式設計</a:t>
                      </a:r>
                      <a:endParaRPr lang="zh-TW" altLang="en-US" dirty="0"/>
                    </a:p>
                  </a:txBody>
                  <a:tcPr/>
                </a:tc>
                <a:tc>
                  <a:txBody>
                    <a:bodyPr/>
                    <a:lstStyle/>
                    <a:p>
                      <a:r>
                        <a:rPr lang="en-US" altLang="zh-TW" dirty="0" smtClean="0"/>
                        <a:t>MTA</a:t>
                      </a:r>
                      <a:r>
                        <a:rPr lang="zh-TW" altLang="en-US" dirty="0" smtClean="0"/>
                        <a:t> </a:t>
                      </a:r>
                      <a:r>
                        <a:rPr lang="en-US" altLang="zh-TW" dirty="0" smtClean="0"/>
                        <a:t>Python</a:t>
                      </a:r>
                      <a:r>
                        <a:rPr lang="zh-TW" altLang="en-US" dirty="0" smtClean="0"/>
                        <a:t>證照小考</a:t>
                      </a:r>
                      <a:endParaRPr lang="zh-TW" altLang="en-US" dirty="0"/>
                    </a:p>
                  </a:txBody>
                  <a:tcPr/>
                </a:tc>
              </a:tr>
              <a:tr h="370840">
                <a:tc>
                  <a:txBody>
                    <a:bodyPr/>
                    <a:lstStyle/>
                    <a:p>
                      <a:r>
                        <a:rPr lang="zh-TW" altLang="en-US" dirty="0" smtClean="0"/>
                        <a:t>下午</a:t>
                      </a:r>
                      <a:endParaRPr lang="zh-TW" altLang="en-US" dirty="0"/>
                    </a:p>
                  </a:txBody>
                  <a:tcPr/>
                </a:tc>
                <a:tc>
                  <a:txBody>
                    <a:bodyPr/>
                    <a:lstStyle/>
                    <a:p>
                      <a:r>
                        <a:rPr lang="zh-TW" altLang="en-US" dirty="0" smtClean="0"/>
                        <a:t>使用</a:t>
                      </a:r>
                      <a:r>
                        <a:rPr lang="en-US" altLang="zh-TW" dirty="0" smtClean="0"/>
                        <a:t>Python</a:t>
                      </a:r>
                      <a:r>
                        <a:rPr lang="zh-TW" altLang="en-US" dirty="0" smtClean="0"/>
                        <a:t>解編碼問題</a:t>
                      </a:r>
                      <a:endParaRPr lang="zh-TW" altLang="en-US" dirty="0"/>
                    </a:p>
                  </a:txBody>
                  <a:tcPr/>
                </a:tc>
                <a:tc>
                  <a:txBody>
                    <a:bodyPr/>
                    <a:lstStyle/>
                    <a:p>
                      <a:r>
                        <a:rPr lang="en-US" altLang="zh-TW" dirty="0" smtClean="0"/>
                        <a:t>Python-CTF</a:t>
                      </a:r>
                      <a:r>
                        <a:rPr lang="zh-TW" altLang="en-US" dirty="0" smtClean="0"/>
                        <a:t>實戰</a:t>
                      </a:r>
                      <a:endParaRPr lang="en-US" altLang="zh-TW" dirty="0" smtClean="0"/>
                    </a:p>
                    <a:p>
                      <a:r>
                        <a:rPr lang="zh-TW" altLang="en-US" dirty="0" smtClean="0"/>
                        <a:t>編碼與解碼</a:t>
                      </a:r>
                      <a:r>
                        <a:rPr lang="en-US" altLang="zh-TW" dirty="0" smtClean="0"/>
                        <a:t>102</a:t>
                      </a:r>
                      <a:endParaRPr lang="zh-TW" altLang="en-US" dirty="0"/>
                    </a:p>
                  </a:txBody>
                  <a:tcPr/>
                </a:tc>
              </a:tr>
              <a:tr h="370840">
                <a:tc>
                  <a:txBody>
                    <a:bodyPr/>
                    <a:lstStyle/>
                    <a:p>
                      <a:endParaRPr lang="zh-TW" altLang="en-US"/>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smtClean="0"/>
                        <a:t>使用</a:t>
                      </a:r>
                      <a:r>
                        <a:rPr lang="en-US" altLang="zh-TW" dirty="0" smtClean="0"/>
                        <a:t>Python</a:t>
                      </a:r>
                      <a:r>
                        <a:rPr lang="zh-TW" altLang="en-US" dirty="0" smtClean="0"/>
                        <a:t>解破密問題</a:t>
                      </a:r>
                    </a:p>
                  </a:txBody>
                  <a:tcPr/>
                </a:tc>
                <a:tc>
                  <a:txBody>
                    <a:bodyPr/>
                    <a:lstStyle/>
                    <a:p>
                      <a:r>
                        <a:rPr lang="en-US" altLang="zh-TW" dirty="0" smtClean="0"/>
                        <a:t>Crypto </a:t>
                      </a:r>
                      <a:r>
                        <a:rPr lang="en-US" altLang="zh-TW" dirty="0" smtClean="0"/>
                        <a:t>102</a:t>
                      </a:r>
                      <a:endParaRPr lang="zh-TW" altLang="en-US" dirty="0"/>
                    </a:p>
                  </a:txBody>
                  <a:tcPr/>
                </a:tc>
              </a:tr>
              <a:tr h="370840">
                <a:tc>
                  <a:txBody>
                    <a:bodyPr/>
                    <a:lstStyle/>
                    <a:p>
                      <a:endParaRPr lang="zh-TW" altLang="en-US"/>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smtClean="0"/>
                        <a:t>使用</a:t>
                      </a:r>
                      <a:r>
                        <a:rPr lang="en-US" altLang="zh-TW" dirty="0" smtClean="0"/>
                        <a:t>python</a:t>
                      </a:r>
                      <a:r>
                        <a:rPr lang="zh-TW" altLang="en-US" dirty="0" smtClean="0"/>
                        <a:t>加解密</a:t>
                      </a:r>
                      <a:r>
                        <a:rPr lang="zh-TW" altLang="en-US" baseline="0" dirty="0" smtClean="0"/>
                        <a:t>  </a:t>
                      </a:r>
                      <a:r>
                        <a:rPr lang="en-US" altLang="zh-TW" baseline="0" dirty="0" smtClean="0"/>
                        <a:t>RSA</a:t>
                      </a:r>
                      <a:r>
                        <a:rPr lang="zh-TW" altLang="en-US" baseline="0" dirty="0" smtClean="0"/>
                        <a:t> </a:t>
                      </a:r>
                      <a:r>
                        <a:rPr lang="en-US" altLang="zh-TW" baseline="0" dirty="0" smtClean="0"/>
                        <a:t>+</a:t>
                      </a:r>
                      <a:r>
                        <a:rPr lang="zh-TW" altLang="en-US" baseline="0" dirty="0" smtClean="0"/>
                        <a:t> </a:t>
                      </a:r>
                      <a:r>
                        <a:rPr lang="en-US" altLang="zh-TW" strike="noStrike" baseline="0" dirty="0" smtClean="0"/>
                        <a:t>Hashing</a:t>
                      </a:r>
                      <a:endParaRPr lang="zh-TW" altLang="en-US" strike="noStrike" baseline="0" dirty="0" smtClean="0"/>
                    </a:p>
                  </a:txBody>
                  <a:tcPr/>
                </a:tc>
                <a:tc>
                  <a:txBody>
                    <a:bodyPr/>
                    <a:lstStyle/>
                    <a:p>
                      <a:endParaRPr lang="zh-TW" altLang="en-US" dirty="0"/>
                    </a:p>
                  </a:txBody>
                  <a:tcPr/>
                </a:tc>
              </a:tr>
              <a:tr h="370840">
                <a:tc>
                  <a:txBody>
                    <a:bodyPr/>
                    <a:lstStyle/>
                    <a:p>
                      <a:endParaRPr lang="zh-TW" altLang="en-US"/>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trike="dblStrike" baseline="0" dirty="0" smtClean="0"/>
                        <a:t>使用</a:t>
                      </a:r>
                      <a:r>
                        <a:rPr lang="en-US" altLang="zh-TW" strike="dblStrike" baseline="0" dirty="0" smtClean="0"/>
                        <a:t>Python</a:t>
                      </a:r>
                      <a:r>
                        <a:rPr lang="zh-TW" altLang="en-US" strike="dblStrike" baseline="0" dirty="0" smtClean="0"/>
                        <a:t>解</a:t>
                      </a:r>
                      <a:r>
                        <a:rPr lang="en-US" altLang="zh-TW" strike="dblStrike" baseline="0" dirty="0" smtClean="0"/>
                        <a:t>WEB</a:t>
                      </a:r>
                      <a:r>
                        <a:rPr lang="zh-TW" altLang="en-US" strike="dblStrike" baseline="0" dirty="0" smtClean="0"/>
                        <a:t>問題</a:t>
                      </a:r>
                    </a:p>
                  </a:txBody>
                  <a:tcPr/>
                </a:tc>
                <a:tc>
                  <a:txBody>
                    <a:bodyPr/>
                    <a:lstStyle/>
                    <a:p>
                      <a:endParaRPr lang="zh-TW" altLang="en-US" dirty="0"/>
                    </a:p>
                  </a:txBody>
                  <a:tcPr/>
                </a:tc>
              </a:tr>
            </a:tbl>
          </a:graphicData>
        </a:graphic>
      </p:graphicFrame>
      <p:graphicFrame>
        <p:nvGraphicFramePr>
          <p:cNvPr id="6" name="表格 5"/>
          <p:cNvGraphicFramePr>
            <a:graphicFrameLocks noGrp="1"/>
          </p:cNvGraphicFramePr>
          <p:nvPr/>
        </p:nvGraphicFramePr>
        <p:xfrm>
          <a:off x="467544" y="4149080"/>
          <a:ext cx="8229600" cy="1112520"/>
        </p:xfrm>
        <a:graphic>
          <a:graphicData uri="http://schemas.openxmlformats.org/drawingml/2006/table">
            <a:tbl>
              <a:tblPr firstRow="1" bandRow="1">
                <a:tableStyleId>{5C22544A-7EE6-4342-B048-85BDC9FD1C3A}</a:tableStyleId>
              </a:tblPr>
              <a:tblGrid>
                <a:gridCol w="1296144"/>
                <a:gridCol w="4190256"/>
                <a:gridCol w="2743200"/>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smtClean="0"/>
                        <a:t>研習營</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smtClean="0"/>
                        <a:t>NEXT</a:t>
                      </a:r>
                      <a:endParaRPr lang="zh-TW" altLang="en-US" dirty="0" smtClean="0"/>
                    </a:p>
                  </a:txBody>
                  <a:tcPr/>
                </a:tc>
                <a:tc>
                  <a:txBody>
                    <a:bodyPr/>
                    <a:lstStyle/>
                    <a:p>
                      <a:endParaRPr lang="zh-TW" altLang="en-US"/>
                    </a:p>
                  </a:txBody>
                  <a:tcPr/>
                </a:tc>
              </a:tr>
              <a:tr h="370840">
                <a:tc>
                  <a:txBody>
                    <a:bodyPr/>
                    <a:lstStyle/>
                    <a:p>
                      <a:endParaRPr lang="zh-TW" altLang="en-US"/>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smtClean="0"/>
                        <a:t>Python</a:t>
                      </a:r>
                      <a:r>
                        <a:rPr lang="zh-TW" altLang="en-US" dirty="0" smtClean="0"/>
                        <a:t>與</a:t>
                      </a:r>
                      <a:r>
                        <a:rPr lang="en-US" altLang="zh-TW" dirty="0" smtClean="0"/>
                        <a:t>PPC</a:t>
                      </a:r>
                      <a:endParaRPr lang="zh-TW" altLang="en-US" dirty="0" smtClean="0"/>
                    </a:p>
                  </a:txBody>
                  <a:tcPr/>
                </a:tc>
                <a:tc>
                  <a:txBody>
                    <a:bodyPr/>
                    <a:lstStyle/>
                    <a:p>
                      <a:r>
                        <a:rPr lang="zh-TW" altLang="en-US" dirty="0" smtClean="0"/>
                        <a:t>趙偉傑</a:t>
                      </a:r>
                      <a:endParaRPr lang="zh-TW" altLang="en-US" dirty="0"/>
                    </a:p>
                  </a:txBody>
                  <a:tcPr/>
                </a:tc>
              </a:tr>
              <a:tr h="370840">
                <a:tc>
                  <a:txBody>
                    <a:bodyPr/>
                    <a:lstStyle/>
                    <a:p>
                      <a:endParaRPr lang="zh-TW" altLang="en-US"/>
                    </a:p>
                  </a:txBody>
                  <a:tcPr/>
                </a:tc>
                <a:tc>
                  <a:txBody>
                    <a:bodyPr/>
                    <a:lstStyle/>
                    <a:p>
                      <a:r>
                        <a:rPr lang="zh-TW" altLang="en-US" dirty="0" smtClean="0"/>
                        <a:t>現代密碼之破密分析</a:t>
                      </a:r>
                      <a:r>
                        <a:rPr lang="en-US" altLang="zh-TW" dirty="0" smtClean="0"/>
                        <a:t>RSA</a:t>
                      </a:r>
                      <a:endParaRPr lang="zh-TW" altLang="en-US" dirty="0"/>
                    </a:p>
                  </a:txBody>
                  <a:tcPr/>
                </a:tc>
                <a:tc>
                  <a:txBody>
                    <a:bodyPr/>
                    <a:lstStyle/>
                    <a:p>
                      <a:endParaRPr lang="zh-TW" altLang="en-US" dirty="0"/>
                    </a:p>
                  </a:txBody>
                  <a:tcPr/>
                </a:tc>
              </a:tr>
            </a:tbl>
          </a:graphicData>
        </a:graphic>
      </p:graphicFrame>
      <p:graphicFrame>
        <p:nvGraphicFramePr>
          <p:cNvPr id="7" name="表格 6"/>
          <p:cNvGraphicFramePr>
            <a:graphicFrameLocks noGrp="1"/>
          </p:cNvGraphicFramePr>
          <p:nvPr/>
        </p:nvGraphicFramePr>
        <p:xfrm>
          <a:off x="539552" y="5589240"/>
          <a:ext cx="8229600" cy="1112520"/>
        </p:xfrm>
        <a:graphic>
          <a:graphicData uri="http://schemas.openxmlformats.org/drawingml/2006/table">
            <a:tbl>
              <a:tblPr firstRow="1" bandRow="1">
                <a:tableStyleId>{5C22544A-7EE6-4342-B048-85BDC9FD1C3A}</a:tableStyleId>
              </a:tblPr>
              <a:tblGrid>
                <a:gridCol w="1296144"/>
                <a:gridCol w="4190256"/>
                <a:gridCol w="2743200"/>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smtClean="0"/>
                        <a:t>研習營</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smtClean="0"/>
                        <a:t>NEXT </a:t>
                      </a:r>
                      <a:r>
                        <a:rPr lang="en-US" altLang="zh-TW" dirty="0" err="1" smtClean="0"/>
                        <a:t>NEXT</a:t>
                      </a:r>
                      <a:endParaRPr lang="zh-TW" altLang="en-US" dirty="0" smtClean="0"/>
                    </a:p>
                  </a:txBody>
                  <a:tcPr/>
                </a:tc>
                <a:tc>
                  <a:txBody>
                    <a:bodyPr/>
                    <a:lstStyle/>
                    <a:p>
                      <a:endParaRPr lang="zh-TW" altLang="en-US"/>
                    </a:p>
                  </a:txBody>
                  <a:tcPr/>
                </a:tc>
              </a:tr>
              <a:tr h="370840">
                <a:tc>
                  <a:txBody>
                    <a:bodyPr/>
                    <a:lstStyle/>
                    <a:p>
                      <a:endParaRPr lang="zh-TW"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smtClean="0"/>
                        <a:t>進階現代密碼之破密分析</a:t>
                      </a:r>
                    </a:p>
                  </a:txBody>
                  <a:tcPr/>
                </a:tc>
                <a:tc>
                  <a:txBody>
                    <a:bodyPr/>
                    <a:lstStyle/>
                    <a:p>
                      <a:endParaRPr lang="zh-TW" altLang="en-US" dirty="0"/>
                    </a:p>
                  </a:txBody>
                  <a:tcPr/>
                </a:tc>
              </a:tr>
              <a:tr h="370840">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bl>
          </a:graphicData>
        </a:graphic>
      </p:graphicFrame>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755576" y="764704"/>
            <a:ext cx="5577937" cy="523220"/>
          </a:xfrm>
          <a:prstGeom prst="rect">
            <a:avLst/>
          </a:prstGeom>
        </p:spPr>
        <p:txBody>
          <a:bodyPr wrap="none">
            <a:spAutoFit/>
          </a:bodyPr>
          <a:lstStyle/>
          <a:p>
            <a:r>
              <a:rPr lang="en-US" altLang="zh-TW" sz="2800" dirty="0" err="1"/>
              <a:t>angstromCTF</a:t>
            </a:r>
            <a:r>
              <a:rPr lang="en-US" altLang="zh-TW" sz="2800" dirty="0"/>
              <a:t> 2016 : what-the-hex 20</a:t>
            </a:r>
          </a:p>
        </p:txBody>
      </p:sp>
      <p:sp>
        <p:nvSpPr>
          <p:cNvPr id="18433" name="Rectangle 1"/>
          <p:cNvSpPr>
            <a:spLocks noChangeArrowheads="1"/>
          </p:cNvSpPr>
          <p:nvPr/>
        </p:nvSpPr>
        <p:spPr bwMode="auto">
          <a:xfrm>
            <a:off x="179512" y="2420888"/>
            <a:ext cx="8424936" cy="2523768"/>
          </a:xfrm>
          <a:prstGeom prst="rect">
            <a:avLst/>
          </a:prstGeom>
          <a:solidFill>
            <a:srgbClr val="F6F8FA"/>
          </a:solidFill>
          <a:ln w="9525">
            <a:noFill/>
            <a:miter lim="800000"/>
            <a:headEnd/>
            <a:tailEnd/>
          </a:ln>
          <a:effectLst/>
        </p:spPr>
        <p:txBody>
          <a:bodyPr vert="horz" wrap="square" lIns="0" tIns="0" rIns="0" bIns="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TW" sz="2800" b="0" i="0" u="none" strike="noStrike" cap="none" normalizeH="0" baseline="0" dirty="0" smtClean="0">
                <a:ln>
                  <a:noFill/>
                </a:ln>
                <a:solidFill>
                  <a:srgbClr val="24292E"/>
                </a:solidFill>
                <a:effectLst/>
                <a:latin typeface="Arial" pitchFamily="34" charset="0"/>
                <a:ea typeface="-apple-system"/>
                <a:cs typeface="新細明體" pitchFamily="18" charset="-120"/>
              </a:rPr>
              <a:t>解題步驟</a:t>
            </a:r>
            <a:r>
              <a:rPr kumimoji="1" lang="zh-TW" altLang="zh-TW" sz="2800" b="0" i="0" u="none" strike="noStrike" cap="none" normalizeH="0" baseline="0" dirty="0" smtClean="0">
                <a:ln>
                  <a:noFill/>
                </a:ln>
                <a:solidFill>
                  <a:srgbClr val="24292E"/>
                </a:solidFill>
                <a:effectLst/>
                <a:latin typeface="Arial" pitchFamily="34" charset="0"/>
                <a:ea typeface="-apple-system"/>
                <a:cs typeface="新細明體" pitchFamily="18" charset="-120"/>
              </a:rPr>
              <a:t>1:</a:t>
            </a:r>
            <a:endParaRPr kumimoji="1" lang="zh-TW" altLang="zh-TW" sz="2800" b="0" i="0" u="none" strike="noStrike" cap="none" normalizeH="0" baseline="0" dirty="0" smtClean="0">
              <a:ln>
                <a:noFill/>
              </a:ln>
              <a:solidFill>
                <a:srgbClr val="24292E"/>
              </a:solidFill>
              <a:effectLst/>
              <a:latin typeface="Arial Unicode MS" pitchFamily="34" charset="-120"/>
              <a:ea typeface="SFMono-Regular"/>
              <a:cs typeface="新細明體" pitchFamily="18" charset="-12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zh-TW" altLang="zh-TW" sz="2000" b="0" i="0" u="none" strike="noStrike" cap="none" normalizeH="0" baseline="0" dirty="0" smtClean="0">
                <a:ln>
                  <a:noFill/>
                </a:ln>
                <a:solidFill>
                  <a:srgbClr val="24292E"/>
                </a:solidFill>
                <a:effectLst/>
                <a:latin typeface="Arial Unicode MS" pitchFamily="34" charset="-120"/>
                <a:ea typeface="SFMono-Regular"/>
                <a:cs typeface="新細明體" pitchFamily="18" charset="-120"/>
              </a:rPr>
              <a:t>echo "6236343a20615735305a584a755a58526659323975646d567963326c76626c3930623239736331397962324e72" | xxd -r -p </a:t>
            </a:r>
            <a:endParaRPr kumimoji="1" lang="zh-TW" altLang="zh-TW" sz="2000" b="0" i="0" u="none" strike="noStrike" cap="none" normalizeH="0" baseline="0" dirty="0" smtClean="0">
              <a:ln>
                <a:noFill/>
              </a:ln>
              <a:solidFill>
                <a:schemeClr val="tx1"/>
              </a:solidFill>
              <a:effectLst/>
              <a:latin typeface="Arial" pitchFamily="34" charset="0"/>
              <a:ea typeface="新細明體" pitchFamily="18" charset="-120"/>
              <a:cs typeface="新細明體" pitchFamily="18" charset="-12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1" lang="en-US" altLang="zh-TW" sz="2800" b="0" i="0" u="none" strike="noStrike" cap="none" normalizeH="0" baseline="0" dirty="0" smtClean="0">
              <a:ln>
                <a:noFill/>
              </a:ln>
              <a:solidFill>
                <a:srgbClr val="24292E"/>
              </a:solidFill>
              <a:effectLst/>
              <a:latin typeface="Arial" pitchFamily="34" charset="0"/>
              <a:ea typeface="-apple-system"/>
              <a:cs typeface="新細明體" pitchFamily="18" charset="-12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zh-TW" sz="2800" b="0" i="0" u="none" strike="noStrike" cap="none" normalizeH="0" baseline="0" dirty="0" smtClean="0">
                <a:ln>
                  <a:noFill/>
                </a:ln>
                <a:solidFill>
                  <a:srgbClr val="24292E"/>
                </a:solidFill>
                <a:effectLst/>
                <a:latin typeface="Arial" pitchFamily="34" charset="0"/>
                <a:ea typeface="-apple-system"/>
                <a:cs typeface="新細明體" pitchFamily="18" charset="-120"/>
              </a:rPr>
              <a:t>解題步驟</a:t>
            </a:r>
            <a:r>
              <a:rPr kumimoji="1" lang="zh-TW" altLang="zh-TW" sz="2800" b="0" i="0" u="none" strike="noStrike" cap="none" normalizeH="0" baseline="0" dirty="0" smtClean="0">
                <a:ln>
                  <a:noFill/>
                </a:ln>
                <a:solidFill>
                  <a:srgbClr val="24292E"/>
                </a:solidFill>
                <a:effectLst/>
                <a:latin typeface="Arial" pitchFamily="34" charset="0"/>
                <a:ea typeface="-apple-system"/>
                <a:cs typeface="新細明體" pitchFamily="18" charset="-120"/>
              </a:rPr>
              <a:t>2:</a:t>
            </a:r>
            <a:endParaRPr kumimoji="1" lang="zh-TW" altLang="zh-TW" sz="2800" b="0" i="0" u="none" strike="noStrike" cap="none" normalizeH="0" baseline="0" dirty="0" smtClean="0">
              <a:ln>
                <a:noFill/>
              </a:ln>
              <a:solidFill>
                <a:srgbClr val="24292E"/>
              </a:solidFill>
              <a:effectLst/>
              <a:latin typeface="Arial Unicode MS" pitchFamily="34" charset="-120"/>
              <a:ea typeface="SFMono-Regular"/>
              <a:cs typeface="新細明體" pitchFamily="18" charset="-12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zh-TW" altLang="zh-TW" sz="2000" b="0" i="0" u="none" strike="noStrike" cap="none" normalizeH="0" baseline="0" dirty="0" smtClean="0">
                <a:ln>
                  <a:noFill/>
                </a:ln>
                <a:solidFill>
                  <a:srgbClr val="24292E"/>
                </a:solidFill>
                <a:effectLst/>
                <a:latin typeface="Arial Unicode MS" pitchFamily="34" charset="-120"/>
                <a:ea typeface="SFMono-Regular"/>
                <a:cs typeface="新細明體" pitchFamily="18" charset="-120"/>
              </a:rPr>
              <a:t>echo aW50ZXJuZXRfY29udmVyc2lvbl90b29sc19yb2Nr | base64 -d</a:t>
            </a:r>
            <a:r>
              <a:rPr kumimoji="1" lang="zh-TW" altLang="zh-TW" sz="2000" b="0" i="0" u="none" strike="noStrike" cap="none" normalizeH="0" baseline="0" dirty="0" smtClean="0">
                <a:ln>
                  <a:noFill/>
                </a:ln>
                <a:solidFill>
                  <a:schemeClr val="tx1"/>
                </a:solidFill>
                <a:effectLst/>
                <a:latin typeface="Arial" pitchFamily="34" charset="0"/>
                <a:ea typeface="新細明體" pitchFamily="18" charset="-120"/>
                <a:cs typeface="新細明體" pitchFamily="18" charset="-120"/>
              </a:rPr>
              <a:t> </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a:t>SECCON CTF 2014: Easy Cipher 100</a:t>
            </a:r>
            <a:br>
              <a:rPr lang="en-US" altLang="zh-TW" dirty="0"/>
            </a:br>
            <a:r>
              <a:rPr lang="en-US" altLang="zh-TW" sz="2000" u="sng" dirty="0"/>
              <a:t>https://</a:t>
            </a:r>
            <a:r>
              <a:rPr lang="en-US" altLang="zh-TW" sz="2000" u="sng" dirty="0" smtClean="0"/>
              <a:t>github.com/S42X/CTF/blob/master/SECCON/EasyCipher.md</a:t>
            </a:r>
            <a:endParaRPr lang="zh-TW" altLang="en-US" dirty="0"/>
          </a:p>
        </p:txBody>
      </p:sp>
      <p:sp>
        <p:nvSpPr>
          <p:cNvPr id="3" name="內容版面配置區 2"/>
          <p:cNvSpPr>
            <a:spLocks noGrp="1"/>
          </p:cNvSpPr>
          <p:nvPr>
            <p:ph idx="1"/>
          </p:nvPr>
        </p:nvSpPr>
        <p:spPr>
          <a:xfrm>
            <a:off x="467544" y="1628800"/>
            <a:ext cx="8229600" cy="4853136"/>
          </a:xfrm>
        </p:spPr>
        <p:txBody>
          <a:bodyPr>
            <a:noAutofit/>
          </a:bodyPr>
          <a:lstStyle/>
          <a:p>
            <a:pPr>
              <a:buNone/>
            </a:pPr>
            <a:r>
              <a:rPr lang="en-US" altLang="zh-TW" sz="1800" dirty="0" smtClean="0"/>
              <a:t>#!/</a:t>
            </a:r>
            <a:r>
              <a:rPr lang="en-US" altLang="zh-TW" sz="1800" dirty="0" err="1" smtClean="0"/>
              <a:t>usr</a:t>
            </a:r>
            <a:r>
              <a:rPr lang="en-US" altLang="zh-TW" sz="1800" dirty="0" smtClean="0"/>
              <a:t>/bin/python </a:t>
            </a:r>
          </a:p>
          <a:p>
            <a:pPr>
              <a:buNone/>
            </a:pPr>
            <a:r>
              <a:rPr lang="en-US" altLang="zh-TW" sz="1800" dirty="0" smtClean="0"/>
              <a:t>c = ‘………………' </a:t>
            </a:r>
          </a:p>
          <a:p>
            <a:pPr>
              <a:buNone/>
            </a:pPr>
            <a:r>
              <a:rPr lang="en-US" altLang="zh-TW" sz="1800" dirty="0" smtClean="0"/>
              <a:t>flag = "" </a:t>
            </a:r>
          </a:p>
          <a:p>
            <a:pPr>
              <a:buNone/>
            </a:pPr>
            <a:r>
              <a:rPr lang="en-US" altLang="zh-TW" sz="1800" dirty="0" smtClean="0"/>
              <a:t>for _ in </a:t>
            </a:r>
            <a:r>
              <a:rPr lang="en-US" altLang="zh-TW" sz="1800" dirty="0" err="1" smtClean="0"/>
              <a:t>c.split</a:t>
            </a:r>
            <a:r>
              <a:rPr lang="en-US" altLang="zh-TW" sz="1800" dirty="0" smtClean="0"/>
              <a:t>(' '): </a:t>
            </a:r>
          </a:p>
          <a:p>
            <a:pPr>
              <a:buNone/>
            </a:pPr>
            <a:r>
              <a:rPr lang="en-US" altLang="zh-TW" sz="1800" dirty="0"/>
              <a:t> </a:t>
            </a:r>
            <a:r>
              <a:rPr lang="en-US" altLang="zh-TW" sz="1800" dirty="0" smtClean="0"/>
              <a:t>    if </a:t>
            </a:r>
            <a:r>
              <a:rPr lang="en-US" altLang="zh-TW" sz="1800" dirty="0" err="1" smtClean="0"/>
              <a:t>len</a:t>
            </a:r>
            <a:r>
              <a:rPr lang="en-US" altLang="zh-TW" sz="1800" dirty="0" smtClean="0"/>
              <a:t>(_) == 2 and _[1:].</a:t>
            </a:r>
            <a:r>
              <a:rPr lang="en-US" altLang="zh-TW" sz="1800" dirty="0" err="1" smtClean="0"/>
              <a:t>isalpha</a:t>
            </a:r>
            <a:r>
              <a:rPr lang="en-US" altLang="zh-TW" sz="1800" dirty="0" smtClean="0"/>
              <a:t>(): #HEX f</a:t>
            </a:r>
          </a:p>
          <a:p>
            <a:pPr>
              <a:buNone/>
            </a:pPr>
            <a:r>
              <a:rPr lang="en-US" altLang="zh-TW" sz="1800" dirty="0"/>
              <a:t> </a:t>
            </a:r>
            <a:r>
              <a:rPr lang="en-US" altLang="zh-TW" sz="1800" dirty="0" smtClean="0"/>
              <a:t>         lag += _.decode('hex') </a:t>
            </a:r>
          </a:p>
          <a:p>
            <a:pPr>
              <a:buNone/>
            </a:pPr>
            <a:r>
              <a:rPr lang="en-US" altLang="zh-TW" sz="1800" dirty="0"/>
              <a:t> </a:t>
            </a:r>
            <a:r>
              <a:rPr lang="en-US" altLang="zh-TW" sz="1800" dirty="0" smtClean="0"/>
              <a:t>     if (</a:t>
            </a:r>
            <a:r>
              <a:rPr lang="en-US" altLang="zh-TW" sz="1800" dirty="0" err="1" smtClean="0"/>
              <a:t>len</a:t>
            </a:r>
            <a:r>
              <a:rPr lang="en-US" altLang="zh-TW" sz="1800" dirty="0" smtClean="0"/>
              <a:t>(_) == 2 and not _[1:].</a:t>
            </a:r>
            <a:r>
              <a:rPr lang="en-US" altLang="zh-TW" sz="1800" dirty="0" err="1" smtClean="0"/>
              <a:t>isalpha</a:t>
            </a:r>
            <a:r>
              <a:rPr lang="en-US" altLang="zh-TW" sz="1800" dirty="0" smtClean="0"/>
              <a:t>()) or (</a:t>
            </a:r>
            <a:r>
              <a:rPr lang="en-US" altLang="zh-TW" sz="1800" dirty="0" err="1" smtClean="0"/>
              <a:t>len</a:t>
            </a:r>
            <a:r>
              <a:rPr lang="en-US" altLang="zh-TW" sz="1800" dirty="0" smtClean="0"/>
              <a:t>(_) == 3 and </a:t>
            </a:r>
            <a:r>
              <a:rPr lang="en-US" altLang="zh-TW" sz="1800" dirty="0" err="1" smtClean="0"/>
              <a:t>int</a:t>
            </a:r>
            <a:r>
              <a:rPr lang="en-US" altLang="zh-TW" sz="1800" dirty="0" smtClean="0"/>
              <a:t>(_[0]) != 0): #DEC </a:t>
            </a:r>
          </a:p>
          <a:p>
            <a:pPr>
              <a:buNone/>
            </a:pPr>
            <a:r>
              <a:rPr lang="en-US" altLang="zh-TW" sz="1800" dirty="0"/>
              <a:t> </a:t>
            </a:r>
            <a:r>
              <a:rPr lang="en-US" altLang="zh-TW" sz="1800" dirty="0" smtClean="0"/>
              <a:t>           flag += </a:t>
            </a:r>
            <a:r>
              <a:rPr lang="en-US" altLang="zh-TW" sz="1800" dirty="0" err="1" smtClean="0"/>
              <a:t>chr</a:t>
            </a:r>
            <a:r>
              <a:rPr lang="en-US" altLang="zh-TW" sz="1800" dirty="0" smtClean="0"/>
              <a:t>(</a:t>
            </a:r>
            <a:r>
              <a:rPr lang="en-US" altLang="zh-TW" sz="1800" dirty="0" err="1" smtClean="0"/>
              <a:t>int</a:t>
            </a:r>
            <a:r>
              <a:rPr lang="en-US" altLang="zh-TW" sz="1800" dirty="0" smtClean="0"/>
              <a:t>(_)) </a:t>
            </a:r>
          </a:p>
          <a:p>
            <a:pPr>
              <a:buNone/>
            </a:pPr>
            <a:r>
              <a:rPr lang="en-US" altLang="zh-TW" sz="1800" dirty="0"/>
              <a:t> </a:t>
            </a:r>
            <a:r>
              <a:rPr lang="en-US" altLang="zh-TW" sz="1800" dirty="0" smtClean="0"/>
              <a:t>       if </a:t>
            </a:r>
            <a:r>
              <a:rPr lang="en-US" altLang="zh-TW" sz="1800" dirty="0" err="1" smtClean="0"/>
              <a:t>len</a:t>
            </a:r>
            <a:r>
              <a:rPr lang="en-US" altLang="zh-TW" sz="1800" dirty="0" smtClean="0"/>
              <a:t>(_) == 4 or (</a:t>
            </a:r>
            <a:r>
              <a:rPr lang="en-US" altLang="zh-TW" sz="1800" dirty="0" err="1" smtClean="0"/>
              <a:t>len</a:t>
            </a:r>
            <a:r>
              <a:rPr lang="en-US" altLang="zh-TW" sz="1800" dirty="0" smtClean="0"/>
              <a:t>(_) == 3 and </a:t>
            </a:r>
            <a:r>
              <a:rPr lang="en-US" altLang="zh-TW" sz="1800" dirty="0" err="1" smtClean="0"/>
              <a:t>int</a:t>
            </a:r>
            <a:r>
              <a:rPr lang="en-US" altLang="zh-TW" sz="1800" dirty="0" smtClean="0"/>
              <a:t>(_[0]) == 0) : #OCT </a:t>
            </a:r>
          </a:p>
          <a:p>
            <a:pPr>
              <a:buNone/>
            </a:pPr>
            <a:r>
              <a:rPr lang="en-US" altLang="zh-TW" sz="1800" dirty="0"/>
              <a:t> </a:t>
            </a:r>
            <a:r>
              <a:rPr lang="en-US" altLang="zh-TW" sz="1800" dirty="0" smtClean="0"/>
              <a:t>           flag +=  </a:t>
            </a:r>
            <a:r>
              <a:rPr lang="en-US" altLang="zh-TW" sz="1800" dirty="0" err="1" smtClean="0"/>
              <a:t>chr</a:t>
            </a:r>
            <a:r>
              <a:rPr lang="en-US" altLang="zh-TW" sz="1800" dirty="0" smtClean="0"/>
              <a:t>(</a:t>
            </a:r>
            <a:r>
              <a:rPr lang="en-US" altLang="zh-TW" sz="1800" dirty="0" err="1" smtClean="0"/>
              <a:t>int</a:t>
            </a:r>
            <a:r>
              <a:rPr lang="en-US" altLang="zh-TW" sz="1800" dirty="0" smtClean="0"/>
              <a:t>(_, 8)) </a:t>
            </a:r>
          </a:p>
          <a:p>
            <a:pPr>
              <a:buNone/>
            </a:pPr>
            <a:r>
              <a:rPr lang="en-US" altLang="zh-TW" sz="1800" dirty="0"/>
              <a:t> </a:t>
            </a:r>
            <a:r>
              <a:rPr lang="en-US" altLang="zh-TW" sz="1800" dirty="0" smtClean="0"/>
              <a:t>     if </a:t>
            </a:r>
            <a:r>
              <a:rPr lang="en-US" altLang="zh-TW" sz="1800" dirty="0" err="1" smtClean="0"/>
              <a:t>len</a:t>
            </a:r>
            <a:r>
              <a:rPr lang="en-US" altLang="zh-TW" sz="1800" dirty="0" smtClean="0"/>
              <a:t>(_) &gt; 4: #BIN </a:t>
            </a:r>
          </a:p>
          <a:p>
            <a:pPr>
              <a:buNone/>
            </a:pPr>
            <a:r>
              <a:rPr lang="en-US" altLang="zh-TW" sz="1800" dirty="0"/>
              <a:t> </a:t>
            </a:r>
            <a:r>
              <a:rPr lang="en-US" altLang="zh-TW" sz="1800" dirty="0" smtClean="0"/>
              <a:t>            flag += </a:t>
            </a:r>
            <a:r>
              <a:rPr lang="en-US" altLang="zh-TW" sz="1800" dirty="0" err="1" smtClean="0"/>
              <a:t>binascii.unhexlify</a:t>
            </a:r>
            <a:r>
              <a:rPr lang="en-US" altLang="zh-TW" sz="1800" dirty="0" smtClean="0"/>
              <a:t>('%x' % </a:t>
            </a:r>
            <a:r>
              <a:rPr lang="en-US" altLang="zh-TW" sz="1800" dirty="0" err="1" smtClean="0"/>
              <a:t>int</a:t>
            </a:r>
            <a:r>
              <a:rPr lang="en-US" altLang="zh-TW" sz="1800" dirty="0" smtClean="0"/>
              <a:t>(_,2)) </a:t>
            </a:r>
          </a:p>
          <a:p>
            <a:pPr>
              <a:buNone/>
            </a:pPr>
            <a:endParaRPr lang="en-US" altLang="zh-TW" sz="1800" dirty="0"/>
          </a:p>
          <a:p>
            <a:pPr>
              <a:buNone/>
            </a:pPr>
            <a:r>
              <a:rPr lang="en-US" altLang="zh-TW" sz="1800" dirty="0" smtClean="0"/>
              <a:t>print flag</a:t>
            </a:r>
            <a:endParaRPr lang="zh-TW" altLang="en-US" sz="1800" dirty="0"/>
          </a:p>
        </p:txBody>
      </p:sp>
      <p:sp>
        <p:nvSpPr>
          <p:cNvPr id="6" name="矩形 5"/>
          <p:cNvSpPr/>
          <p:nvPr/>
        </p:nvSpPr>
        <p:spPr>
          <a:xfrm>
            <a:off x="3131840" y="1556792"/>
            <a:ext cx="5760640" cy="1077218"/>
          </a:xfrm>
          <a:prstGeom prst="rect">
            <a:avLst/>
          </a:prstGeom>
        </p:spPr>
        <p:txBody>
          <a:bodyPr wrap="square">
            <a:spAutoFit/>
          </a:bodyPr>
          <a:lstStyle/>
          <a:p>
            <a:r>
              <a:rPr lang="en-US" altLang="zh-TW" sz="800" dirty="0" smtClean="0"/>
              <a:t>c = '87 101 108 1100011 0157 6d 0145 040 116 0157 100000 0164 104 1100101 32 0123 69 67 0103 1001111 \ 1001110 040 062 060 49 064 100000 0157 110 6c 0151 1101110 101 040 0103 1010100 70 101110 0124 \ 1101000 101 100000 1010011 1000101 67 0103 4f 4e 100000 105 1110011 040 116 1101000 0145 040 \ 1100010 0151 103 103 0145 1110011 0164 100000 1101000 0141 99 6b 1100101 0162 32 0143 111 1101110\ 1110100 101 0163 0164 040 0151 0156 040 74 0141 1110000 1100001 0156 056 4f 0157 0160 115 44 040\ 0171 1101111 117 100000 1110111 0141 0156 1110100 32 0164 6f 32 6b 1101110 1101111 1110111 100000\ 0164 1101000 0145 040 0146 6c 97 1100111 2c 100000 0144 111 110 100111 116 100000 1111001 6f 117\ 63 0110 1100101 0162 0145 100000 1111001 111 117 100000 97 114 0145 46 1010011 0105 0103 67 79\ 1001110 123 87 110011 110001 67 110000 1001101 32 55 060 100000 110111 0110 110011 32 53 51 0103\ 0103 060 0116 040 5a 0117 73 0101 7d 1001000 0141 1110110 1100101 100000 102 0165 0156 33' </a:t>
            </a:r>
            <a:endParaRPr lang="en-US" altLang="zh-TW" sz="800" dirty="0" smtClean="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zh-TW" altLang="en-US" dirty="0"/>
              <a:t>摩斯謨斯大變身</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alexctf-2017: CR1: </a:t>
            </a:r>
            <a:r>
              <a:rPr lang="en-US" altLang="zh-TW" dirty="0" err="1"/>
              <a:t>Ultracoded</a:t>
            </a:r>
            <a:r>
              <a:rPr lang="en-US" altLang="zh-TW" dirty="0"/>
              <a:t> 50</a:t>
            </a:r>
            <a:br>
              <a:rPr lang="en-US" altLang="zh-TW" dirty="0"/>
            </a:br>
            <a:r>
              <a:rPr lang="en-US" altLang="zh-TW" sz="1800" dirty="0">
                <a:hlinkClick r:id="rId2"/>
              </a:rPr>
              <a:t>https://fadec0d3.blogspot.tw/2017/02/alexctf-2017-crypto.html</a:t>
            </a:r>
            <a:r>
              <a:rPr lang="en-US" altLang="zh-TW" sz="1800" dirty="0"/>
              <a:t/>
            </a:r>
            <a:br>
              <a:rPr lang="en-US" altLang="zh-TW" sz="1800" dirty="0"/>
            </a:br>
            <a:r>
              <a:rPr lang="en-US" altLang="zh-TW" sz="1800" u="sng" dirty="0"/>
              <a:t>https://0xd13a.github.io/ctfs/alexctf2017/ultracoded</a:t>
            </a:r>
            <a:r>
              <a:rPr lang="en-US" altLang="zh-TW" sz="1800" u="sng" dirty="0" smtClean="0"/>
              <a:t>/</a:t>
            </a:r>
            <a:endParaRPr lang="zh-TW" altLang="en-US" dirty="0"/>
          </a:p>
        </p:txBody>
      </p:sp>
      <p:sp>
        <p:nvSpPr>
          <p:cNvPr id="3" name="內容版面配置區 2"/>
          <p:cNvSpPr>
            <a:spLocks noGrp="1"/>
          </p:cNvSpPr>
          <p:nvPr>
            <p:ph idx="1"/>
          </p:nvPr>
        </p:nvSpPr>
        <p:spPr/>
        <p:txBody>
          <a:bodyPr>
            <a:normAutofit/>
          </a:bodyPr>
          <a:lstStyle/>
          <a:p>
            <a:pPr>
              <a:buNone/>
            </a:pPr>
            <a:r>
              <a:rPr lang="en-US" altLang="zh-TW" dirty="0" smtClean="0"/>
              <a:t>from </a:t>
            </a:r>
            <a:r>
              <a:rPr lang="en-US" altLang="zh-TW" dirty="0" err="1" smtClean="0"/>
              <a:t>pwn</a:t>
            </a:r>
            <a:r>
              <a:rPr lang="en-US" altLang="zh-TW" dirty="0" smtClean="0"/>
              <a:t> import * </a:t>
            </a:r>
          </a:p>
          <a:p>
            <a:pPr>
              <a:buNone/>
            </a:pPr>
            <a:r>
              <a:rPr lang="en-US" altLang="zh-TW" dirty="0" smtClean="0"/>
              <a:t>import </a:t>
            </a:r>
            <a:r>
              <a:rPr lang="en-US" altLang="zh-TW" dirty="0" err="1" smtClean="0"/>
              <a:t>morse_talk</a:t>
            </a:r>
            <a:r>
              <a:rPr lang="en-US" altLang="zh-TW" dirty="0" smtClean="0"/>
              <a:t> as </a:t>
            </a:r>
            <a:r>
              <a:rPr lang="en-US" altLang="zh-TW" dirty="0" err="1" smtClean="0"/>
              <a:t>mtalk</a:t>
            </a:r>
            <a:r>
              <a:rPr lang="en-US" altLang="zh-TW" dirty="0" smtClean="0"/>
              <a:t> </a:t>
            </a:r>
          </a:p>
          <a:p>
            <a:pPr>
              <a:buNone/>
            </a:pPr>
            <a:r>
              <a:rPr lang="en-US" altLang="zh-TW" dirty="0" smtClean="0"/>
              <a:t>with open('</a:t>
            </a:r>
            <a:r>
              <a:rPr lang="en-US" altLang="zh-TW" dirty="0" err="1" smtClean="0"/>
              <a:t>zero_one</a:t>
            </a:r>
            <a:r>
              <a:rPr lang="en-US" altLang="zh-TW" dirty="0" smtClean="0"/>
              <a:t>', 'r') as f: </a:t>
            </a:r>
          </a:p>
          <a:p>
            <a:pPr>
              <a:buNone/>
            </a:pPr>
            <a:r>
              <a:rPr lang="zh-TW" altLang="en-US" sz="2000" dirty="0"/>
              <a:t> </a:t>
            </a:r>
            <a:r>
              <a:rPr lang="zh-TW" altLang="en-US" sz="2000" dirty="0" smtClean="0"/>
              <a:t>  </a:t>
            </a:r>
            <a:r>
              <a:rPr lang="en-US" altLang="zh-TW" sz="2000" dirty="0" smtClean="0"/>
              <a:t>data = </a:t>
            </a:r>
            <a:r>
              <a:rPr lang="en-US" altLang="zh-TW" sz="2000" dirty="0" err="1" smtClean="0"/>
              <a:t>f.read</a:t>
            </a:r>
            <a:r>
              <a:rPr lang="en-US" altLang="zh-TW" sz="2000" dirty="0" smtClean="0"/>
              <a:t>().translate(None, ' \n') </a:t>
            </a:r>
          </a:p>
          <a:p>
            <a:pPr>
              <a:buNone/>
            </a:pPr>
            <a:r>
              <a:rPr lang="zh-TW" altLang="en-US" sz="2000" dirty="0"/>
              <a:t> </a:t>
            </a:r>
            <a:r>
              <a:rPr lang="zh-TW" altLang="en-US" sz="2000" dirty="0" smtClean="0"/>
              <a:t>  </a:t>
            </a:r>
            <a:r>
              <a:rPr lang="en-US" altLang="zh-TW" sz="2000" dirty="0" smtClean="0"/>
              <a:t>data =</a:t>
            </a:r>
            <a:r>
              <a:rPr lang="en-US" altLang="zh-TW" sz="2000" dirty="0" err="1" smtClean="0"/>
              <a:t>data.replace</a:t>
            </a:r>
            <a:r>
              <a:rPr lang="en-US" altLang="zh-TW" sz="2000" dirty="0" smtClean="0"/>
              <a:t>("ZERO","0").replace("ONE","1") </a:t>
            </a:r>
          </a:p>
          <a:p>
            <a:pPr>
              <a:buNone/>
            </a:pPr>
            <a:r>
              <a:rPr lang="zh-TW" altLang="en-US" sz="2000" dirty="0"/>
              <a:t> </a:t>
            </a:r>
            <a:r>
              <a:rPr lang="zh-TW" altLang="en-US" sz="2000" dirty="0" smtClean="0"/>
              <a:t>  </a:t>
            </a:r>
            <a:r>
              <a:rPr lang="en-US" altLang="zh-TW" sz="2000" dirty="0" smtClean="0"/>
              <a:t>data = b64d(''.join(</a:t>
            </a:r>
            <a:r>
              <a:rPr lang="en-US" altLang="zh-TW" sz="2000" dirty="0" err="1" smtClean="0"/>
              <a:t>chr</a:t>
            </a:r>
            <a:r>
              <a:rPr lang="en-US" altLang="zh-TW" sz="2000" dirty="0" smtClean="0"/>
              <a:t>(</a:t>
            </a:r>
            <a:r>
              <a:rPr lang="en-US" altLang="zh-TW" sz="2000" dirty="0" err="1" smtClean="0"/>
              <a:t>int</a:t>
            </a:r>
            <a:r>
              <a:rPr lang="en-US" altLang="zh-TW" sz="2000" dirty="0" smtClean="0"/>
              <a:t>(data[i:i+8], 2)) </a:t>
            </a:r>
          </a:p>
          <a:p>
            <a:pPr>
              <a:buNone/>
            </a:pPr>
            <a:r>
              <a:rPr lang="en-US" altLang="zh-TW" sz="2000" dirty="0" smtClean="0"/>
              <a:t>for </a:t>
            </a:r>
            <a:r>
              <a:rPr lang="en-US" altLang="zh-TW" sz="2000" dirty="0" err="1" smtClean="0"/>
              <a:t>i</a:t>
            </a:r>
            <a:r>
              <a:rPr lang="en-US" altLang="zh-TW" sz="2000" dirty="0" smtClean="0"/>
              <a:t> in </a:t>
            </a:r>
            <a:r>
              <a:rPr lang="en-US" altLang="zh-TW" sz="2000" dirty="0" err="1" smtClean="0"/>
              <a:t>xrange</a:t>
            </a:r>
            <a:r>
              <a:rPr lang="en-US" altLang="zh-TW" sz="2000" dirty="0" smtClean="0"/>
              <a:t>(0, </a:t>
            </a:r>
            <a:r>
              <a:rPr lang="en-US" altLang="zh-TW" sz="2000" dirty="0" err="1" smtClean="0"/>
              <a:t>len</a:t>
            </a:r>
            <a:r>
              <a:rPr lang="en-US" altLang="zh-TW" sz="2000" dirty="0" smtClean="0"/>
              <a:t>(data), 8))) </a:t>
            </a:r>
          </a:p>
          <a:p>
            <a:pPr>
              <a:buNone/>
            </a:pPr>
            <a:r>
              <a:rPr lang="zh-TW" altLang="en-US" sz="2000" dirty="0" smtClean="0"/>
              <a:t>   </a:t>
            </a:r>
            <a:r>
              <a:rPr lang="en-US" altLang="zh-TW" sz="2000" dirty="0" smtClean="0"/>
              <a:t>data = </a:t>
            </a:r>
            <a:r>
              <a:rPr lang="en-US" altLang="zh-TW" sz="2000" dirty="0" err="1" smtClean="0"/>
              <a:t>mtalk.decode</a:t>
            </a:r>
            <a:r>
              <a:rPr lang="en-US" altLang="zh-TW" sz="2000" dirty="0" smtClean="0"/>
              <a:t>(data) </a:t>
            </a:r>
          </a:p>
          <a:p>
            <a:pPr>
              <a:buNone/>
            </a:pPr>
            <a:r>
              <a:rPr lang="en-US" altLang="zh-TW" dirty="0" smtClean="0"/>
              <a:t>print data</a:t>
            </a:r>
            <a:endParaRPr lang="zh-TW" alt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en-US" altLang="zh-TW" dirty="0"/>
              <a:t>DNA</a:t>
            </a:r>
            <a:r>
              <a:rPr lang="zh-TW" altLang="en-US" dirty="0"/>
              <a:t>編碼學</a:t>
            </a:r>
          </a:p>
          <a:p>
            <a:r>
              <a:rPr lang="en-US" altLang="zh-TW" dirty="0"/>
              <a:t>qiwi_infosec_ctf_2016_crypto_100 100</a:t>
            </a:r>
          </a:p>
          <a:p>
            <a:r>
              <a:rPr lang="en-US" altLang="zh-TW" u="sng" dirty="0">
                <a:hlinkClick r:id="rId2"/>
              </a:rPr>
              <a:t>https://github.com/USCGA/writeups/tree/master/online_ctfs/qiwi_infosec_ctf_2016/crypto_100_3_COMPLETE</a:t>
            </a:r>
            <a:endParaRPr lang="en-US" altLang="zh-TW" dirty="0"/>
          </a:p>
          <a:p>
            <a:endParaRPr lang="zh-TW" alt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Autofit/>
          </a:bodyPr>
          <a:lstStyle/>
          <a:p>
            <a:pPr algn="l"/>
            <a:r>
              <a:rPr lang="en-US" altLang="zh-TW" sz="2800" dirty="0" smtClean="0"/>
              <a:t>qiwi_infosec_ctf_2016_crypto_100 100</a:t>
            </a:r>
            <a:r>
              <a:rPr lang="en-US" altLang="zh-TW" sz="1800" dirty="0" smtClean="0"/>
              <a:t/>
            </a:r>
            <a:br>
              <a:rPr lang="en-US" altLang="zh-TW" sz="1800" dirty="0" smtClean="0"/>
            </a:br>
            <a:r>
              <a:rPr lang="en-US" altLang="zh-TW" sz="1800" u="sng" dirty="0" smtClean="0"/>
              <a:t>https://github.com/USCGA/writeups/tree/master/online_ctfs/qiwi_infosec_ctf_2016/crypto_100_3_COMPLETE</a:t>
            </a:r>
            <a:endParaRPr lang="zh-TW" altLang="en-US" sz="1800" dirty="0"/>
          </a:p>
        </p:txBody>
      </p:sp>
      <p:sp>
        <p:nvSpPr>
          <p:cNvPr id="3" name="內容版面配置區 2"/>
          <p:cNvSpPr>
            <a:spLocks noGrp="1"/>
          </p:cNvSpPr>
          <p:nvPr>
            <p:ph idx="1"/>
          </p:nvPr>
        </p:nvSpPr>
        <p:spPr/>
        <p:txBody>
          <a:bodyPr>
            <a:normAutofit lnSpcReduction="10000"/>
          </a:bodyPr>
          <a:lstStyle/>
          <a:p>
            <a:r>
              <a:rPr lang="en-US" altLang="zh-TW" dirty="0" smtClean="0"/>
              <a:t>mapping = { 'CGA': 'A', 'CCA': 'B', 'GTT': 'C', 'TTG': 'D', 'GGC': 'E', 'GGT': 'F', 'TTT': 'G', 'CGC': 'H', 'ATG': 'I', 'AGT': 'J', 'AAG': 'K', 'TGC': 'L', 'TCC': 'M', 'TCT': 'N', 'GGA': 'O', 'GTG': 'P', 'AAC': 'Q', 'TCA': 'R', 'ACG': 'S', 'TTC': 'T', 'CTG': 'U', 'CCT': 'V', 'CCG': 'W', 'CTA': 'X', 'AAA': 'Y', 'CTT': 'Z', 'ATA': ' ', 'TCG': ',', 'GAT': '.', 'GCT': ':', 'ACT': '0', 'ACC': '1', 'TAG': '2', 'GCA': '3', 'GAG': '4', 'AGA': '5', 'TTA': '6', 'ACA': '7', 'AGG': '8', 'GCG': '9' }</a:t>
            </a:r>
            <a:endParaRPr lang="zh-TW" alt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normAutofit fontScale="77500" lnSpcReduction="20000"/>
          </a:bodyPr>
          <a:lstStyle/>
          <a:p>
            <a:pPr>
              <a:buNone/>
            </a:pPr>
            <a:r>
              <a:rPr lang="en-US" altLang="zh-TW" dirty="0" smtClean="0"/>
              <a:t>def </a:t>
            </a:r>
            <a:r>
              <a:rPr lang="en-US" altLang="zh-TW" dirty="0" err="1" smtClean="0"/>
              <a:t>decode_dna</a:t>
            </a:r>
            <a:r>
              <a:rPr lang="en-US" altLang="zh-TW" dirty="0" smtClean="0"/>
              <a:t>( string ): </a:t>
            </a:r>
          </a:p>
          <a:p>
            <a:pPr>
              <a:buNone/>
            </a:pPr>
            <a:r>
              <a:rPr lang="zh-TW" altLang="en-US" dirty="0"/>
              <a:t> </a:t>
            </a:r>
            <a:r>
              <a:rPr lang="zh-TW" altLang="en-US" dirty="0" smtClean="0"/>
              <a:t>     </a:t>
            </a:r>
            <a:r>
              <a:rPr lang="en-US" altLang="zh-TW" dirty="0" smtClean="0"/>
              <a:t>pieces = [] </a:t>
            </a:r>
          </a:p>
          <a:p>
            <a:pPr>
              <a:buNone/>
            </a:pPr>
            <a:r>
              <a:rPr lang="zh-TW" altLang="en-US" dirty="0" smtClean="0"/>
              <a:t>      </a:t>
            </a:r>
            <a:r>
              <a:rPr lang="en-US" altLang="zh-TW" dirty="0" smtClean="0"/>
              <a:t>for </a:t>
            </a:r>
            <a:r>
              <a:rPr lang="en-US" altLang="zh-TW" dirty="0" err="1" smtClean="0"/>
              <a:t>i</a:t>
            </a:r>
            <a:r>
              <a:rPr lang="en-US" altLang="zh-TW" dirty="0" smtClean="0"/>
              <a:t> in range( 0, </a:t>
            </a:r>
            <a:r>
              <a:rPr lang="en-US" altLang="zh-TW" dirty="0" err="1" smtClean="0"/>
              <a:t>len</a:t>
            </a:r>
            <a:r>
              <a:rPr lang="en-US" altLang="zh-TW" dirty="0" smtClean="0"/>
              <a:t>(string), 3 ): </a:t>
            </a:r>
          </a:p>
          <a:p>
            <a:pPr>
              <a:buNone/>
            </a:pPr>
            <a:r>
              <a:rPr lang="zh-TW" altLang="en-US" dirty="0"/>
              <a:t> </a:t>
            </a:r>
            <a:r>
              <a:rPr lang="zh-TW" altLang="en-US" dirty="0" smtClean="0"/>
              <a:t>         </a:t>
            </a:r>
            <a:r>
              <a:rPr lang="en-US" altLang="zh-TW" dirty="0" smtClean="0"/>
              <a:t>piece = string[i:i+3] </a:t>
            </a:r>
          </a:p>
          <a:p>
            <a:pPr>
              <a:buNone/>
            </a:pPr>
            <a:r>
              <a:rPr lang="zh-TW" altLang="en-US" dirty="0" smtClean="0"/>
              <a:t>       </a:t>
            </a:r>
            <a:r>
              <a:rPr lang="en-US" altLang="zh-TW" dirty="0" smtClean="0"/>
              <a:t># </a:t>
            </a:r>
            <a:r>
              <a:rPr lang="en-US" altLang="zh-TW" dirty="0" err="1" smtClean="0"/>
              <a:t>pieces.append</a:t>
            </a:r>
            <a:r>
              <a:rPr lang="en-US" altLang="zh-TW" dirty="0" smtClean="0"/>
              <a:t>() </a:t>
            </a:r>
          </a:p>
          <a:p>
            <a:pPr>
              <a:buNone/>
            </a:pPr>
            <a:r>
              <a:rPr lang="zh-TW" altLang="en-US" dirty="0"/>
              <a:t> </a:t>
            </a:r>
            <a:r>
              <a:rPr lang="zh-TW" altLang="en-US" dirty="0" smtClean="0"/>
              <a:t>         </a:t>
            </a:r>
            <a:r>
              <a:rPr lang="en-US" altLang="zh-TW" dirty="0" err="1" smtClean="0"/>
              <a:t>pieces.append</a:t>
            </a:r>
            <a:r>
              <a:rPr lang="en-US" altLang="zh-TW" dirty="0" smtClean="0"/>
              <a:t>( mapping[piece] ) </a:t>
            </a:r>
          </a:p>
          <a:p>
            <a:pPr>
              <a:buNone/>
            </a:pPr>
            <a:r>
              <a:rPr lang="en-US" altLang="zh-TW" dirty="0" smtClean="0"/>
              <a:t>return "".join(pieces) </a:t>
            </a:r>
          </a:p>
          <a:p>
            <a:pPr>
              <a:buNone/>
            </a:pPr>
            <a:endParaRPr lang="en-US" altLang="zh-TW" dirty="0"/>
          </a:p>
          <a:p>
            <a:pPr>
              <a:buNone/>
            </a:pPr>
            <a:r>
              <a:rPr lang="en-US" altLang="zh-TW" dirty="0" smtClean="0"/>
              <a:t>string = 'GGTTCAATGGGCTTGTCAATGGTTCGCATATCCATGGGCACGGTTCGCGGCTCA' </a:t>
            </a:r>
          </a:p>
          <a:p>
            <a:pPr>
              <a:buNone/>
            </a:pPr>
            <a:r>
              <a:rPr lang="en-US" altLang="zh-TW" dirty="0" smtClean="0"/>
              <a:t>print </a:t>
            </a:r>
            <a:r>
              <a:rPr lang="en-US" altLang="zh-TW" dirty="0" err="1" smtClean="0"/>
              <a:t>decode_dna</a:t>
            </a:r>
            <a:r>
              <a:rPr lang="en-US" altLang="zh-TW" dirty="0" smtClean="0"/>
              <a:t>(string)</a:t>
            </a:r>
            <a:endParaRPr lang="zh-TW" alt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3"/>
          <p:cNvSpPr>
            <a:spLocks noChangeArrowheads="1"/>
          </p:cNvSpPr>
          <p:nvPr/>
        </p:nvSpPr>
        <p:spPr bwMode="auto">
          <a:xfrm>
            <a:off x="395536" y="1124744"/>
            <a:ext cx="8280920" cy="3693319"/>
          </a:xfrm>
          <a:prstGeom prst="rect">
            <a:avLst/>
          </a:prstGeom>
          <a:solidFill>
            <a:srgbClr val="F6F8FA"/>
          </a:solidFill>
          <a:ln w="9525">
            <a:noFill/>
            <a:miter lim="800000"/>
            <a:headEnd/>
            <a:tailEnd/>
          </a:ln>
          <a:effectLst/>
        </p:spPr>
        <p:txBody>
          <a:bodyPr vert="horz" wrap="square" lIns="0" tIns="0" rIns="0" bIns="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TW" sz="2400" b="0" i="0" u="none" strike="noStrike" cap="none" normalizeH="0" baseline="0" dirty="0" smtClean="0">
                <a:ln>
                  <a:noFill/>
                </a:ln>
                <a:solidFill>
                  <a:srgbClr val="24292E"/>
                </a:solidFill>
                <a:effectLst/>
                <a:latin typeface="Arial" pitchFamily="34" charset="0"/>
                <a:ea typeface="-apple-system"/>
                <a:cs typeface="新細明體" pitchFamily="18" charset="-120"/>
              </a:rPr>
              <a:t>解題步驟</a:t>
            </a:r>
            <a:r>
              <a:rPr kumimoji="1" lang="zh-TW" altLang="zh-TW" sz="2400" b="0" i="0" u="none" strike="noStrike" cap="none" normalizeH="0" baseline="0" dirty="0" smtClean="0">
                <a:ln>
                  <a:noFill/>
                </a:ln>
                <a:solidFill>
                  <a:srgbClr val="24292E"/>
                </a:solidFill>
                <a:effectLst/>
                <a:latin typeface="Arial" pitchFamily="34" charset="0"/>
                <a:ea typeface="-apple-system"/>
                <a:cs typeface="新細明體" pitchFamily="18" charset="-120"/>
              </a:rPr>
              <a:t>1:</a:t>
            </a:r>
            <a:endParaRPr kumimoji="1" lang="zh-TW" altLang="zh-TW" sz="2400" b="0" i="0" u="none" strike="noStrike" cap="none" normalizeH="0" baseline="0" dirty="0" smtClean="0">
              <a:ln>
                <a:noFill/>
              </a:ln>
              <a:solidFill>
                <a:srgbClr val="24292E"/>
              </a:solidFill>
              <a:effectLst/>
              <a:latin typeface="Arial Unicode MS" pitchFamily="34" charset="-120"/>
              <a:ea typeface="SFMono-Regular"/>
              <a:cs typeface="新細明體" pitchFamily="18" charset="-12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zh-TW" altLang="zh-TW" sz="2400" b="0" i="0" u="none" strike="noStrike" cap="none" normalizeH="0" baseline="0" dirty="0" smtClean="0">
                <a:ln>
                  <a:noFill/>
                </a:ln>
                <a:solidFill>
                  <a:srgbClr val="24292E"/>
                </a:solidFill>
                <a:effectLst/>
                <a:latin typeface="Arial Unicode MS" pitchFamily="34" charset="-120"/>
                <a:ea typeface="SFMono-Regular"/>
                <a:cs typeface="新細明體" pitchFamily="18" charset="-120"/>
              </a:rPr>
              <a:t>file fore1.core </a:t>
            </a:r>
            <a:endParaRPr kumimoji="1" lang="zh-TW" altLang="zh-TW" sz="2400" b="0" i="0" u="none" strike="noStrike" cap="none" normalizeH="0" baseline="0" dirty="0" smtClean="0">
              <a:ln>
                <a:noFill/>
              </a:ln>
              <a:solidFill>
                <a:schemeClr val="tx1"/>
              </a:solidFill>
              <a:effectLst/>
              <a:latin typeface="Arial" pitchFamily="34" charset="0"/>
              <a:ea typeface="新細明體" pitchFamily="18" charset="-120"/>
              <a:cs typeface="新細明體" pitchFamily="18" charset="-12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zh-TW" sz="2400" b="0" i="0" u="none" strike="noStrike" cap="none" normalizeH="0" baseline="0" dirty="0" smtClean="0">
                <a:ln>
                  <a:noFill/>
                </a:ln>
                <a:solidFill>
                  <a:srgbClr val="24292E"/>
                </a:solidFill>
                <a:effectLst/>
                <a:latin typeface="Arial" pitchFamily="34" charset="0"/>
                <a:ea typeface="-apple-system"/>
                <a:cs typeface="新細明體" pitchFamily="18" charset="-120"/>
              </a:rPr>
              <a:t>解題步驟</a:t>
            </a:r>
            <a:r>
              <a:rPr kumimoji="1" lang="zh-TW" altLang="zh-TW" sz="2400" b="0" i="0" u="none" strike="noStrike" cap="none" normalizeH="0" baseline="0" dirty="0" smtClean="0">
                <a:ln>
                  <a:noFill/>
                </a:ln>
                <a:solidFill>
                  <a:srgbClr val="24292E"/>
                </a:solidFill>
                <a:effectLst/>
                <a:latin typeface="Arial" pitchFamily="34" charset="0"/>
                <a:ea typeface="-apple-system"/>
                <a:cs typeface="新細明體" pitchFamily="18" charset="-120"/>
              </a:rPr>
              <a:t>2:</a:t>
            </a:r>
            <a:endParaRPr kumimoji="1" lang="zh-TW" altLang="zh-TW" sz="2400" b="0" i="0" u="none" strike="noStrike" cap="none" normalizeH="0" baseline="0" dirty="0" smtClean="0">
              <a:ln>
                <a:noFill/>
              </a:ln>
              <a:solidFill>
                <a:schemeClr val="tx1"/>
              </a:solidFill>
              <a:effectLst/>
              <a:latin typeface="Arial" pitchFamily="34" charset="0"/>
              <a:ea typeface="新細明體" pitchFamily="18" charset="-120"/>
              <a:cs typeface="新細明體" pitchFamily="18" charset="-12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zh-TW" altLang="zh-TW" sz="2400" b="0" i="0" u="none" strike="noStrike" cap="none" normalizeH="0" baseline="0" dirty="0" smtClean="0">
                <a:ln>
                  <a:noFill/>
                </a:ln>
                <a:solidFill>
                  <a:srgbClr val="24292E"/>
                </a:solidFill>
                <a:effectLst/>
                <a:latin typeface="Arial" pitchFamily="34" charset="0"/>
                <a:ea typeface="-apple-system"/>
                <a:cs typeface="新細明體" pitchFamily="18" charset="-120"/>
              </a:rPr>
              <a:t>$ strings fore1.core</a:t>
            </a:r>
            <a:endParaRPr kumimoji="1" lang="zh-TW" altLang="zh-TW" sz="2400" b="0" i="0" u="none" strike="noStrike" cap="none" normalizeH="0" baseline="0" dirty="0" smtClean="0">
              <a:ln>
                <a:noFill/>
              </a:ln>
              <a:solidFill>
                <a:srgbClr val="24292E"/>
              </a:solidFill>
              <a:effectLst/>
              <a:latin typeface="Arial Unicode MS" pitchFamily="34" charset="-120"/>
              <a:ea typeface="SFMono-Regular"/>
              <a:cs typeface="新細明體" pitchFamily="18" charset="-12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zh-TW" altLang="zh-TW" sz="2400" b="0" i="0" u="none" strike="noStrike" cap="none" normalizeH="0" baseline="0" dirty="0" smtClean="0">
                <a:ln>
                  <a:noFill/>
                </a:ln>
                <a:solidFill>
                  <a:srgbClr val="24292E"/>
                </a:solidFill>
                <a:effectLst/>
                <a:latin typeface="Arial"/>
                <a:ea typeface="SFMono-Regular"/>
                <a:cs typeface="新細明體" pitchFamily="18" charset="-120"/>
              </a:rPr>
              <a:t>…</a:t>
            </a:r>
            <a:r>
              <a:rPr kumimoji="1" lang="zh-TW" altLang="zh-TW" sz="2400" b="0" i="0" u="none" strike="noStrike" cap="none" normalizeH="0" baseline="0" dirty="0" smtClean="0">
                <a:ln>
                  <a:noFill/>
                </a:ln>
                <a:solidFill>
                  <a:srgbClr val="24292E"/>
                </a:solidFill>
                <a:effectLst/>
                <a:latin typeface="Arial Unicode MS" pitchFamily="34" charset="-120"/>
                <a:ea typeface="SFMono-Regular"/>
                <a:cs typeface="新細明體" pitchFamily="18" charset="-120"/>
              </a:rPr>
              <a:t>. cvqAeqacLtqazEigwiXobxrCrtuiTzahfFreqc{bnjrKwgk83kgd43j85ePgb_e_rwqr7fvbmHjklo3tews_hmkogooyf0vbnk0ii87Drfgh_n kiwutfb0ghk9ro987k5tfb_hjiouo087ptfcv} </a:t>
            </a:r>
            <a:endParaRPr kumimoji="1" lang="en-US" altLang="zh-TW" sz="2400" b="0" i="0" u="none" strike="noStrike" cap="none" normalizeH="0" baseline="0" dirty="0" smtClean="0">
              <a:ln>
                <a:noFill/>
              </a:ln>
              <a:solidFill>
                <a:srgbClr val="24292E"/>
              </a:solidFill>
              <a:effectLst/>
              <a:latin typeface="Arial Unicode MS" pitchFamily="34" charset="-120"/>
              <a:ea typeface="SFMono-Regular"/>
              <a:cs typeface="新細明體" pitchFamily="18" charset="-12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zh-TW" altLang="zh-TW" sz="2400" b="0" i="0" u="none" strike="noStrike" cap="none" normalizeH="0" baseline="0" dirty="0" smtClean="0">
                <a:ln>
                  <a:noFill/>
                </a:ln>
                <a:solidFill>
                  <a:srgbClr val="24292E"/>
                </a:solidFill>
                <a:effectLst/>
                <a:latin typeface="Arial"/>
                <a:ea typeface="SFMono-Regular"/>
                <a:cs typeface="新細明體" pitchFamily="18" charset="-120"/>
              </a:rPr>
              <a:t>…</a:t>
            </a:r>
            <a:r>
              <a:rPr kumimoji="1" lang="zh-TW" altLang="zh-TW" sz="2400" b="0" i="0" u="none" strike="noStrike" cap="none" normalizeH="0" baseline="0" dirty="0" smtClean="0">
                <a:ln>
                  <a:noFill/>
                </a:ln>
                <a:solidFill>
                  <a:srgbClr val="24292E"/>
                </a:solidFill>
                <a:effectLst/>
                <a:latin typeface="Arial Unicode MS" pitchFamily="34" charset="-120"/>
                <a:ea typeface="SFMono-Regular"/>
                <a:cs typeface="新細明體" pitchFamily="18" charset="-120"/>
              </a:rPr>
              <a:t>.</a:t>
            </a:r>
            <a:r>
              <a:rPr kumimoji="1" lang="zh-TW" altLang="zh-TW" sz="2400" b="0" i="0" u="none" strike="noStrike" cap="none" normalizeH="0" baseline="0" dirty="0" smtClean="0">
                <a:ln>
                  <a:noFill/>
                </a:ln>
                <a:solidFill>
                  <a:schemeClr val="tx1"/>
                </a:solidFill>
                <a:effectLst/>
                <a:latin typeface="Arial" pitchFamily="34" charset="0"/>
                <a:ea typeface="新細明體" pitchFamily="18" charset="-120"/>
                <a:cs typeface="新細明體" pitchFamily="18" charset="-120"/>
              </a:rPr>
              <a:t> </a:t>
            </a:r>
            <a:endParaRPr kumimoji="1" lang="en-US" altLang="zh-TW" sz="2400" b="0" i="0" u="none" strike="noStrike" cap="none" normalizeH="0" baseline="0" dirty="0" smtClean="0">
              <a:ln>
                <a:noFill/>
              </a:ln>
              <a:solidFill>
                <a:schemeClr val="tx1"/>
              </a:solidFill>
              <a:effectLst/>
              <a:latin typeface="Arial" pitchFamily="34" charset="0"/>
              <a:ea typeface="新細明體" pitchFamily="18" charset="-120"/>
              <a:cs typeface="新細明體" pitchFamily="18" charset="-12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1" lang="zh-TW" altLang="zh-TW" sz="2400" b="0" i="0" u="none" strike="noStrike" cap="none" normalizeH="0" baseline="0" dirty="0" smtClean="0">
              <a:ln>
                <a:noFill/>
              </a:ln>
              <a:solidFill>
                <a:schemeClr val="tx1"/>
              </a:solidFill>
              <a:effectLst/>
              <a:latin typeface="Arial" pitchFamily="34" charset="0"/>
              <a:ea typeface="新細明體" pitchFamily="18" charset="-120"/>
              <a:cs typeface="新細明體" pitchFamily="18" charset="-12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p:txBody>
          <a:bodyPr>
            <a:normAutofit fontScale="77500" lnSpcReduction="20000"/>
          </a:bodyPr>
          <a:lstStyle/>
          <a:p>
            <a:pPr>
              <a:buNone/>
            </a:pPr>
            <a:r>
              <a:rPr lang="en-US" altLang="zh-TW" dirty="0" smtClean="0"/>
              <a:t>cipher='</a:t>
            </a:r>
            <a:r>
              <a:rPr lang="en-US" altLang="zh-TW" dirty="0" err="1" smtClean="0"/>
              <a:t>cvqAeqacLtqazEigwiXobxrCrtuiTzahfFreqc</a:t>
            </a:r>
            <a:r>
              <a:rPr lang="en-US" altLang="zh-TW" dirty="0" smtClean="0"/>
              <a:t>{bnjrKwgk83kgd43j85ePgb_e_rwqr7fvbmHjklo3tews_hmkogooyf0vbnk0ii87Drfgh_n kiwutfb0ghk9ro987k5tfb_hjiouo087ptfcv}' cipher=cipher[3:] </a:t>
            </a:r>
          </a:p>
          <a:p>
            <a:pPr>
              <a:buNone/>
            </a:pPr>
            <a:endParaRPr lang="en-US" altLang="zh-TW" dirty="0" smtClean="0"/>
          </a:p>
          <a:p>
            <a:pPr>
              <a:buNone/>
            </a:pPr>
            <a:r>
              <a:rPr lang="en-US" altLang="zh-TW" dirty="0" smtClean="0"/>
              <a:t>flag = '' </a:t>
            </a:r>
          </a:p>
          <a:p>
            <a:pPr>
              <a:buNone/>
            </a:pPr>
            <a:endParaRPr lang="en-US" altLang="zh-TW" dirty="0"/>
          </a:p>
          <a:p>
            <a:pPr>
              <a:buNone/>
            </a:pPr>
            <a:r>
              <a:rPr lang="en-US" altLang="zh-TW" dirty="0" smtClean="0"/>
              <a:t>for x in range(0,len(cipher),1): </a:t>
            </a:r>
          </a:p>
          <a:p>
            <a:pPr>
              <a:buNone/>
            </a:pPr>
            <a:r>
              <a:rPr lang="en-US" altLang="zh-TW" dirty="0"/>
              <a:t> </a:t>
            </a:r>
            <a:r>
              <a:rPr lang="en-US" altLang="zh-TW" dirty="0" smtClean="0"/>
              <a:t>           if x%5==0: </a:t>
            </a:r>
          </a:p>
          <a:p>
            <a:pPr>
              <a:buNone/>
            </a:pPr>
            <a:r>
              <a:rPr lang="en-US" altLang="zh-TW" dirty="0"/>
              <a:t> </a:t>
            </a:r>
            <a:r>
              <a:rPr lang="en-US" altLang="zh-TW" dirty="0" smtClean="0"/>
              <a:t>           flag+=cipher[x] </a:t>
            </a:r>
            <a:endParaRPr lang="en-US" altLang="zh-TW" dirty="0"/>
          </a:p>
          <a:p>
            <a:pPr>
              <a:buNone/>
            </a:pPr>
            <a:r>
              <a:rPr lang="en-US" altLang="zh-TW" dirty="0" smtClean="0"/>
              <a:t>print flag</a:t>
            </a:r>
            <a:endParaRPr lang="zh-TW" altLang="en-US" dirty="0"/>
          </a:p>
        </p:txBody>
      </p:sp>
      <p:sp>
        <p:nvSpPr>
          <p:cNvPr id="4" name="矩形 3"/>
          <p:cNvSpPr/>
          <p:nvPr/>
        </p:nvSpPr>
        <p:spPr>
          <a:xfrm>
            <a:off x="467544" y="620688"/>
            <a:ext cx="5814590" cy="584775"/>
          </a:xfrm>
          <a:prstGeom prst="rect">
            <a:avLst/>
          </a:prstGeom>
        </p:spPr>
        <p:txBody>
          <a:bodyPr wrap="square">
            <a:spAutoFit/>
          </a:bodyPr>
          <a:lstStyle/>
          <a:p>
            <a:pPr marL="342900" lvl="0" indent="-342900">
              <a:spcBef>
                <a:spcPct val="20000"/>
              </a:spcBef>
              <a:buFont typeface="Arial" pitchFamily="34" charset="0"/>
              <a:buChar char="•"/>
            </a:pPr>
            <a:r>
              <a:rPr lang="zh-TW" altLang="en-US" sz="3200" dirty="0">
                <a:solidFill>
                  <a:prstClr val="black"/>
                </a:solidFill>
              </a:rPr>
              <a:t>解題步驟</a:t>
            </a:r>
            <a:r>
              <a:rPr lang="en-US" altLang="zh-TW" sz="3200" dirty="0">
                <a:solidFill>
                  <a:prstClr val="black"/>
                </a:solidFill>
              </a:rPr>
              <a:t>3:</a:t>
            </a:r>
            <a:r>
              <a:rPr lang="zh-TW" altLang="en-US" sz="3200" dirty="0">
                <a:solidFill>
                  <a:prstClr val="black"/>
                </a:solidFill>
              </a:rPr>
              <a:t>使用</a:t>
            </a:r>
            <a:r>
              <a:rPr lang="en-US" altLang="zh-TW" sz="3200" dirty="0">
                <a:solidFill>
                  <a:prstClr val="black"/>
                </a:solidFill>
              </a:rPr>
              <a:t>python</a:t>
            </a:r>
            <a:r>
              <a:rPr lang="zh-TW" altLang="en-US" sz="3200" dirty="0">
                <a:solidFill>
                  <a:prstClr val="black"/>
                </a:solidFill>
              </a:rPr>
              <a:t>解題</a:t>
            </a:r>
            <a:endParaRPr lang="zh-TW" altLang="en-US" sz="3200" dirty="0">
              <a:solidFill>
                <a:prstClr val="black"/>
              </a:solidFill>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pPr>
              <a:buNone/>
            </a:pPr>
            <a:r>
              <a:rPr lang="en-US" altLang="zh-TW" dirty="0" smtClean="0"/>
              <a:t>cipher='</a:t>
            </a:r>
            <a:r>
              <a:rPr lang="en-US" altLang="zh-TW" dirty="0" err="1" smtClean="0"/>
              <a:t>cvqAeqacLtqazEigwiXobxrCrtuiTzahfFreqc</a:t>
            </a:r>
            <a:r>
              <a:rPr lang="en-US" altLang="zh-TW" dirty="0" smtClean="0"/>
              <a:t>{bnjrKwgk83kgd43j85ePgb_e_rwqr7fvbmHjklo3tews_hmkogooyf0vbnk0ii87Drfgh_n kiwutfb0ghk9ro987k5tfb_hjiouo087ptfcv}' ''.join(cipher[3 : : 5])</a:t>
            </a:r>
            <a:endParaRPr lang="zh-TW" alt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pPr>
              <a:buNone/>
            </a:pPr>
            <a:r>
              <a:rPr lang="en-US" altLang="zh-TW" dirty="0" smtClean="0"/>
              <a:t>s = '</a:t>
            </a:r>
            <a:r>
              <a:rPr lang="en-US" altLang="zh-TW" dirty="0" err="1" smtClean="0"/>
              <a:t>cvqAeqacLtqazEigwiXobxrCrtuiTzahfFreqc</a:t>
            </a:r>
            <a:r>
              <a:rPr lang="en-US" altLang="zh-TW" dirty="0" smtClean="0"/>
              <a:t>{bnjrKwgk83kgd43j85ePgb_e_rwqr7fvbmHjklo3tews_hmkogooyf0vbnk0ii87Drfgh_n kiwutfb0ghk9ro987k5tfb_hjiouo087ptfcv}' </a:t>
            </a:r>
          </a:p>
          <a:p>
            <a:pPr>
              <a:buNone/>
            </a:pPr>
            <a:r>
              <a:rPr lang="en-US" altLang="zh-TW" dirty="0" smtClean="0"/>
              <a:t>print s[3::5]</a:t>
            </a:r>
            <a:endParaRPr lang="zh-TW" alt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b="1" dirty="0"/>
              <a:t>Crypto_103_affine-cipher</a:t>
            </a:r>
            <a:br>
              <a:rPr lang="en-US" altLang="zh-TW" b="1" dirty="0"/>
            </a:br>
            <a:r>
              <a:rPr lang="en-US" altLang="zh-TW" sz="2200" dirty="0"/>
              <a:t>School CTF 2015: affine-cipher-100(</a:t>
            </a:r>
            <a:r>
              <a:rPr lang="zh-TW" altLang="en-US" sz="2200" dirty="0"/>
              <a:t>教</a:t>
            </a:r>
            <a:r>
              <a:rPr lang="en-US" altLang="zh-TW" sz="2200" dirty="0"/>
              <a:t>) 150</a:t>
            </a:r>
            <a:br>
              <a:rPr lang="en-US" altLang="zh-TW" sz="2200" dirty="0"/>
            </a:br>
            <a:r>
              <a:rPr lang="en-US" altLang="zh-TW" sz="2200" dirty="0"/>
              <a:t>https://</a:t>
            </a:r>
            <a:r>
              <a:rPr lang="en-US" altLang="zh-TW" sz="2200" dirty="0" smtClean="0"/>
              <a:t>github.com/BurningMarshmallow/CTF/blob/master/affine_solve.py</a:t>
            </a:r>
            <a:endParaRPr lang="zh-TW" altLang="en-US" sz="2200" dirty="0"/>
          </a:p>
        </p:txBody>
      </p:sp>
      <p:sp>
        <p:nvSpPr>
          <p:cNvPr id="3" name="內容版面配置區 2"/>
          <p:cNvSpPr>
            <a:spLocks noGrp="1"/>
          </p:cNvSpPr>
          <p:nvPr>
            <p:ph idx="1"/>
          </p:nvPr>
        </p:nvSpPr>
        <p:spPr/>
        <p:txBody>
          <a:bodyPr>
            <a:normAutofit fontScale="70000" lnSpcReduction="20000"/>
          </a:bodyPr>
          <a:lstStyle/>
          <a:p>
            <a:pPr>
              <a:buNone/>
            </a:pPr>
            <a:r>
              <a:rPr lang="en-US" altLang="zh-TW" dirty="0" smtClean="0"/>
              <a:t>import string </a:t>
            </a:r>
          </a:p>
          <a:p>
            <a:pPr>
              <a:buNone/>
            </a:pPr>
            <a:r>
              <a:rPr lang="en-US" altLang="zh-TW" dirty="0" smtClean="0"/>
              <a:t>s = </a:t>
            </a:r>
            <a:r>
              <a:rPr lang="en-US" altLang="zh-TW" dirty="0" err="1" smtClean="0"/>
              <a:t>string.ascii_lowercase</a:t>
            </a:r>
            <a:r>
              <a:rPr lang="en-US" altLang="zh-TW" dirty="0" smtClean="0"/>
              <a:t> # a-z </a:t>
            </a:r>
          </a:p>
          <a:p>
            <a:pPr>
              <a:buNone/>
            </a:pPr>
            <a:r>
              <a:rPr lang="en-US" altLang="zh-TW" dirty="0" smtClean="0"/>
              <a:t>s += '_' </a:t>
            </a:r>
          </a:p>
          <a:p>
            <a:pPr>
              <a:buNone/>
            </a:pPr>
            <a:r>
              <a:rPr lang="en-US" altLang="zh-TW" dirty="0" smtClean="0"/>
              <a:t>d = {} </a:t>
            </a:r>
          </a:p>
          <a:p>
            <a:pPr>
              <a:buNone/>
            </a:pPr>
            <a:r>
              <a:rPr lang="en-US" altLang="zh-TW" dirty="0" smtClean="0"/>
              <a:t>for c in range(</a:t>
            </a:r>
            <a:r>
              <a:rPr lang="en-US" altLang="zh-TW" dirty="0" err="1" smtClean="0"/>
              <a:t>len</a:t>
            </a:r>
            <a:r>
              <a:rPr lang="en-US" altLang="zh-TW" dirty="0" smtClean="0"/>
              <a:t>(s)): </a:t>
            </a:r>
          </a:p>
          <a:p>
            <a:pPr>
              <a:buNone/>
            </a:pPr>
            <a:r>
              <a:rPr lang="en-US" altLang="zh-TW" dirty="0" smtClean="0"/>
              <a:t>      d[s[(c*4 + 15)%27]] = s[c] </a:t>
            </a:r>
          </a:p>
          <a:p>
            <a:pPr>
              <a:buNone/>
            </a:pPr>
            <a:endParaRPr lang="en-US" altLang="zh-TW" dirty="0" smtClean="0"/>
          </a:p>
          <a:p>
            <a:pPr>
              <a:buNone/>
            </a:pPr>
            <a:r>
              <a:rPr lang="en-US" altLang="zh-TW" dirty="0" err="1" smtClean="0"/>
              <a:t>ciphertext</a:t>
            </a:r>
            <a:r>
              <a:rPr lang="en-US" altLang="zh-TW" dirty="0" smtClean="0"/>
              <a:t> = '</a:t>
            </a:r>
            <a:r>
              <a:rPr lang="en-US" altLang="zh-TW" dirty="0" err="1" smtClean="0"/>
              <a:t>ifpmluglesecdlqp_rclfrseljpkq</a:t>
            </a:r>
            <a:r>
              <a:rPr lang="en-US" altLang="zh-TW" dirty="0" smtClean="0"/>
              <a:t>' </a:t>
            </a:r>
          </a:p>
          <a:p>
            <a:pPr>
              <a:buNone/>
            </a:pPr>
            <a:r>
              <a:rPr lang="en-US" altLang="zh-TW" dirty="0" smtClean="0"/>
              <a:t>s1 = '' </a:t>
            </a:r>
          </a:p>
          <a:p>
            <a:pPr>
              <a:buNone/>
            </a:pPr>
            <a:r>
              <a:rPr lang="en-US" altLang="zh-TW" dirty="0" smtClean="0"/>
              <a:t>for x in </a:t>
            </a:r>
            <a:r>
              <a:rPr lang="en-US" altLang="zh-TW" dirty="0" err="1" smtClean="0"/>
              <a:t>ciphertext</a:t>
            </a:r>
            <a:r>
              <a:rPr lang="en-US" altLang="zh-TW" dirty="0" smtClean="0"/>
              <a:t> </a:t>
            </a:r>
            <a:r>
              <a:rPr lang="en-US" altLang="zh-TW" dirty="0" smtClean="0"/>
              <a:t>: </a:t>
            </a:r>
          </a:p>
          <a:p>
            <a:pPr>
              <a:buNone/>
            </a:pPr>
            <a:r>
              <a:rPr lang="en-US" altLang="zh-TW" dirty="0"/>
              <a:t> </a:t>
            </a:r>
            <a:r>
              <a:rPr lang="en-US" altLang="zh-TW" dirty="0" smtClean="0"/>
              <a:t>    s1 += d[x] </a:t>
            </a:r>
          </a:p>
          <a:p>
            <a:pPr>
              <a:buNone/>
            </a:pPr>
            <a:endParaRPr lang="en-US" altLang="zh-TW" dirty="0"/>
          </a:p>
          <a:p>
            <a:pPr>
              <a:buNone/>
            </a:pPr>
            <a:r>
              <a:rPr lang="en-US" altLang="zh-TW" dirty="0" smtClean="0"/>
              <a:t>print s1</a:t>
            </a:r>
            <a:endParaRPr lang="zh-TW" alt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57</TotalTime>
  <Words>1055</Words>
  <Application>Microsoft Office PowerPoint</Application>
  <PresentationFormat>如螢幕大小 (4:3)</PresentationFormat>
  <Paragraphs>106</Paragraphs>
  <Slides>16</Slides>
  <Notes>0</Notes>
  <HiddenSlides>0</HiddenSlides>
  <MMClips>0</MMClips>
  <ScaleCrop>false</ScaleCrop>
  <HeadingPairs>
    <vt:vector size="4" baseType="variant">
      <vt:variant>
        <vt:lpstr>佈景主題</vt:lpstr>
      </vt:variant>
      <vt:variant>
        <vt:i4>1</vt:i4>
      </vt:variant>
      <vt:variant>
        <vt:lpstr>投影片標題</vt:lpstr>
      </vt:variant>
      <vt:variant>
        <vt:i4>16</vt:i4>
      </vt:variant>
    </vt:vector>
  </HeadingPairs>
  <TitlesOfParts>
    <vt:vector size="17" baseType="lpstr">
      <vt:lpstr>Office 佈景主題</vt:lpstr>
      <vt:lpstr>Python程式與資訊安全</vt:lpstr>
      <vt:lpstr>願景:學Python可以做什麼?</vt:lpstr>
      <vt:lpstr>課程目標:本課程在一天短短時間內讓你</vt:lpstr>
      <vt:lpstr>一日上手快速入門</vt:lpstr>
      <vt:lpstr>投影片 5</vt:lpstr>
      <vt:lpstr>SECCON CTF 2014: Easy Cipher 100 https://github.com/S42X/CTF/blob/master/SECCON/EasyCipher.md</vt:lpstr>
      <vt:lpstr>投影片 7</vt:lpstr>
      <vt:lpstr>alexctf-2017: CR1: Ultracoded 50 https://fadec0d3.blogspot.tw/2017/02/alexctf-2017-crypto.html https://0xd13a.github.io/ctfs/alexctf2017/ultracoded/</vt:lpstr>
      <vt:lpstr>投影片 9</vt:lpstr>
      <vt:lpstr>qiwi_infosec_ctf_2016_crypto_100 100 https://github.com/USCGA/writeups/tree/master/online_ctfs/qiwi_infosec_ctf_2016/crypto_100_3_COMPLETE</vt:lpstr>
      <vt:lpstr>投影片 11</vt:lpstr>
      <vt:lpstr>投影片 12</vt:lpstr>
      <vt:lpstr>投影片 13</vt:lpstr>
      <vt:lpstr>投影片 14</vt:lpstr>
      <vt:lpstr>投影片 15</vt:lpstr>
      <vt:lpstr>Crypto_103_affine-cipher School CTF 2015: affine-cipher-100(教) 150 https://github.com/BurningMarshmallow/CTF/blob/master/affine_solve.py</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Python程式與資訊安全</dc:title>
  <dc:creator>USER</dc:creator>
  <cp:lastModifiedBy>USER</cp:lastModifiedBy>
  <cp:revision>8</cp:revision>
  <dcterms:created xsi:type="dcterms:W3CDTF">2019-04-23T06:40:34Z</dcterms:created>
  <dcterms:modified xsi:type="dcterms:W3CDTF">2019-04-23T07:38:06Z</dcterms:modified>
</cp:coreProperties>
</file>